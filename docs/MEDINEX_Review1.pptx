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6" r:id="rId12"/>
    <p:sldId id="267" r:id="rId13"/>
    <p:sldId id="264" r:id="rId14"/>
    <p:sldId id="265"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2A"/>
        </a:solidFill>
        <a:effectLst/>
      </p:bgPr>
    </p:bg>
    <p:spTree>
      <p:nvGrpSpPr>
        <p:cNvPr id="1" name=""/>
        <p:cNvGrpSpPr/>
        <p:nvPr/>
      </p:nvGrpSpPr>
      <p:grpSpPr>
        <a:xfrm>
          <a:off x="0" y="0"/>
          <a:ext cx="0" cy="0"/>
          <a:chOff x="0" y="0"/>
          <a:chExt cx="0" cy="0"/>
        </a:xfrm>
      </p:grpSpPr>
      <p:sp>
        <p:nvSpPr>
          <p:cNvPr id="2" name="Shape 0"/>
          <p:cNvSpPr/>
          <p:nvPr/>
        </p:nvSpPr>
        <p:spPr>
          <a:xfrm>
            <a:off x="9692640" y="-1280160"/>
            <a:ext cx="4572000" cy="4572000"/>
          </a:xfrm>
          <a:prstGeom prst="ellipse">
            <a:avLst/>
          </a:prstGeom>
          <a:solidFill>
            <a:srgbClr val="028090">
              <a:alpha val="40000"/>
            </a:srgbClr>
          </a:solidFill>
        </p:spPr>
      </p:sp>
      <p:sp>
        <p:nvSpPr>
          <p:cNvPr id="3" name="Shape 1"/>
          <p:cNvSpPr/>
          <p:nvPr/>
        </p:nvSpPr>
        <p:spPr>
          <a:xfrm>
            <a:off x="-1463040" y="4754880"/>
            <a:ext cx="3657600" cy="3657600"/>
          </a:xfrm>
          <a:prstGeom prst="ellipse">
            <a:avLst/>
          </a:prstGeom>
          <a:solidFill>
            <a:srgbClr val="00A896">
              <a:alpha val="30000"/>
            </a:srgbClr>
          </a:solidFill>
        </p:spPr>
      </p:sp>
      <p:sp>
        <p:nvSpPr>
          <p:cNvPr id="4" name="Text 2"/>
          <p:cNvSpPr/>
          <p:nvPr/>
        </p:nvSpPr>
        <p:spPr>
          <a:xfrm>
            <a:off x="822960" y="1463040"/>
            <a:ext cx="7315200" cy="365760"/>
          </a:xfrm>
          <a:prstGeom prst="rect">
            <a:avLst/>
          </a:prstGeom>
          <a:noFill/>
        </p:spPr>
        <p:txBody>
          <a:bodyPr wrap="square" rtlCol="0" anchor="ctr"/>
          <a:lstStyle/>
          <a:p>
            <a:pPr marL="0" indent="0">
              <a:buNone/>
            </a:pPr>
            <a:r>
              <a:rPr lang="en-US" sz="1400" b="1" kern="0" spc="300" dirty="0">
                <a:solidFill>
                  <a:srgbClr val="02C39A"/>
                </a:solidFill>
                <a:latin typeface="Calibri" panose="020F0502020204030204" pitchFamily="34" charset="0"/>
                <a:ea typeface="Calibri" panose="020F0502020204030204" pitchFamily="34" charset="-122"/>
                <a:cs typeface="Calibri" panose="020F0502020204030204" pitchFamily="34" charset="-120"/>
              </a:rPr>
              <a:t>MINI PROJECT  </a:t>
            </a:r>
            <a:endParaRPr lang="en-US" sz="1400" dirty="0"/>
          </a:p>
        </p:txBody>
      </p:sp>
      <p:sp>
        <p:nvSpPr>
          <p:cNvPr id="5" name="Text 3"/>
          <p:cNvSpPr/>
          <p:nvPr/>
        </p:nvSpPr>
        <p:spPr>
          <a:xfrm>
            <a:off x="822960" y="1874520"/>
            <a:ext cx="9144000" cy="1188720"/>
          </a:xfrm>
          <a:prstGeom prst="rect">
            <a:avLst/>
          </a:prstGeom>
          <a:noFill/>
        </p:spPr>
        <p:txBody>
          <a:bodyPr wrap="square" rtlCol="0" anchor="ctr"/>
          <a:lstStyle/>
          <a:p>
            <a:pPr marL="0" indent="0">
              <a:buNone/>
            </a:pPr>
            <a:r>
              <a:rPr lang="en-US" sz="6000" b="1" dirty="0">
                <a:solidFill>
                  <a:srgbClr val="FFFFFF"/>
                </a:solidFill>
                <a:latin typeface="Cambria" panose="02040503050406030204" pitchFamily="34" charset="0"/>
                <a:ea typeface="Cambria" panose="02040503050406030204" pitchFamily="34" charset="-122"/>
                <a:cs typeface="Cambria" panose="02040503050406030204" pitchFamily="34" charset="-120"/>
              </a:rPr>
              <a:t>MEDINEX</a:t>
            </a:r>
            <a:endParaRPr lang="en-US" sz="6000" dirty="0"/>
          </a:p>
        </p:txBody>
      </p:sp>
      <p:sp>
        <p:nvSpPr>
          <p:cNvPr id="6" name="Text 4"/>
          <p:cNvSpPr/>
          <p:nvPr/>
        </p:nvSpPr>
        <p:spPr>
          <a:xfrm>
            <a:off x="822960" y="3017520"/>
            <a:ext cx="8686800" cy="640080"/>
          </a:xfrm>
          <a:prstGeom prst="rect">
            <a:avLst/>
          </a:prstGeom>
          <a:noFill/>
        </p:spPr>
        <p:txBody>
          <a:bodyPr wrap="square" rtlCol="0" anchor="ctr"/>
          <a:lstStyle/>
          <a:p>
            <a:pPr marL="0" indent="0">
              <a:buNone/>
            </a:pPr>
            <a:r>
              <a:rPr lang="en-US" sz="2000" dirty="0">
                <a:solidFill>
                  <a:srgbClr val="CADCFC"/>
                </a:solidFill>
                <a:latin typeface="Calibri" panose="020F0502020204030204" pitchFamily="34" charset="0"/>
                <a:ea typeface="Calibri" panose="020F0502020204030204" pitchFamily="34" charset="-122"/>
                <a:cs typeface="Calibri" panose="020F0502020204030204" pitchFamily="34" charset="-120"/>
              </a:rPr>
              <a:t>AI-Based Digital Health Record &amp; Prescription Verification System</a:t>
            </a:r>
            <a:endParaRPr lang="en-US" sz="2000" dirty="0"/>
          </a:p>
        </p:txBody>
      </p:sp>
      <p:sp>
        <p:nvSpPr>
          <p:cNvPr id="7" name="Shape 5"/>
          <p:cNvSpPr/>
          <p:nvPr/>
        </p:nvSpPr>
        <p:spPr>
          <a:xfrm>
            <a:off x="822960" y="3977640"/>
            <a:ext cx="2743200" cy="0"/>
          </a:xfrm>
          <a:prstGeom prst="line">
            <a:avLst/>
          </a:prstGeom>
          <a:noFill/>
          <a:ln w="25400">
            <a:solidFill>
              <a:srgbClr val="02C39A"/>
            </a:solidFill>
            <a:prstDash val="solid"/>
          </a:ln>
        </p:spPr>
      </p:sp>
      <p:sp>
        <p:nvSpPr>
          <p:cNvPr id="8" name="Text 6"/>
          <p:cNvSpPr/>
          <p:nvPr/>
        </p:nvSpPr>
        <p:spPr>
          <a:xfrm>
            <a:off x="822960" y="4206240"/>
            <a:ext cx="7315200" cy="1188720"/>
          </a:xfrm>
          <a:prstGeom prst="rect">
            <a:avLst/>
          </a:prstGeom>
          <a:noFill/>
        </p:spPr>
        <p:txBody>
          <a:bodyPr wrap="square" rtlCol="0" anchor="ctr"/>
          <a:lstStyle/>
          <a:p>
            <a:pPr marL="0" indent="0">
              <a:lnSpc>
                <a:spcPts val="2200"/>
              </a:lnSpc>
              <a:buNone/>
            </a:pPr>
            <a:r>
              <a:rPr lang="en-US" sz="1300" b="1" dirty="0">
                <a:solidFill>
                  <a:srgbClr val="CADCFC"/>
                </a:solidFill>
                <a:latin typeface="Calibri" panose="020F0502020204030204" pitchFamily="34" charset="0"/>
                <a:ea typeface="Calibri" panose="020F0502020204030204" pitchFamily="34" charset="-122"/>
                <a:cs typeface="Calibri" panose="020F0502020204030204" pitchFamily="34" charset="-120"/>
              </a:rPr>
              <a:t>Presented by: </a:t>
            </a:r>
            <a:endPar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nSpc>
                <a:spcPts val="2200"/>
              </a:lnSpc>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Aiebel Mariyam Roy </a:t>
            </a:r>
            <a:r>
              <a:rPr lang="en-IN" alt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endParaRPr lang="en-IN" alt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nSpc>
                <a:spcPts val="2200"/>
              </a:lnSpc>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sym typeface="+mn-ea"/>
              </a:rPr>
              <a:t>Merin Geo,</a:t>
            </a:r>
            <a:endPar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a:p>
            <a:pPr marL="0" indent="0">
              <a:lnSpc>
                <a:spcPts val="2200"/>
              </a:lnSpc>
              <a:buNone/>
            </a:pP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 Noah Emmanuel Thomas</a:t>
            </a:r>
            <a:r>
              <a:rPr lang="en-IN" alt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a:t>
            </a:r>
            <a:r>
              <a:rPr lang="en-US" sz="1300" dirty="0">
                <a:solidFill>
                  <a:srgbClr val="FFFFFF"/>
                </a:solidFill>
                <a:latin typeface="Calibri" panose="020F0502020204030204" pitchFamily="34" charset="0"/>
                <a:ea typeface="Calibri" panose="020F0502020204030204" pitchFamily="34" charset="-122"/>
                <a:cs typeface="Calibri" panose="020F0502020204030204" pitchFamily="34" charset="-120"/>
              </a:rPr>
              <a:t>
</a:t>
            </a:r>
            <a:r>
              <a:rPr lang="en-US" sz="1300" dirty="0">
                <a:solidFill>
                  <a:srgbClr val="9FB6BE"/>
                </a:solidFill>
                <a:latin typeface="Calibri" panose="020F0502020204030204" pitchFamily="34" charset="0"/>
                <a:ea typeface="Calibri" panose="020F0502020204030204" pitchFamily="34" charset="-122"/>
                <a:cs typeface="Calibri" panose="020F0502020204030204" pitchFamily="34" charset="-120"/>
              </a:rPr>
              <a:t>Department of Computer Applications
</a:t>
            </a:r>
            <a:r>
              <a:rPr lang="en-US" sz="1300" dirty="0">
                <a:solidFill>
                  <a:srgbClr val="9FB6BE"/>
                </a:solidFill>
                <a:latin typeface="Calibri" panose="020F0502020204030204" pitchFamily="34" charset="0"/>
                <a:ea typeface="Calibri" panose="020F0502020204030204" pitchFamily="34" charset="-122"/>
                <a:cs typeface="Calibri" panose="020F0502020204030204" pitchFamily="34" charset="-120"/>
              </a:rPr>
              <a:t>SAINTGITS College of Engineering (Autonomous)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p:spPr>
        <p:txBody>
          <a:bodyPr wrap="square" rtlCol="0" anchor="ctr"/>
          <a:lstStyle/>
          <a:p>
            <a:pPr marL="0" indent="0">
              <a:buNone/>
            </a:pPr>
            <a:r>
              <a:rPr lang="en-US" sz="1300" b="1" kern="0" spc="200" dirty="0">
                <a:solidFill>
                  <a:srgbClr val="00A896"/>
                </a:solidFill>
                <a:latin typeface="Calibri" panose="020F0502020204030204" pitchFamily="34" charset="0"/>
                <a:ea typeface="Calibri" panose="020F0502020204030204" pitchFamily="34" charset="-122"/>
                <a:cs typeface="Calibri" panose="020F0502020204030204" pitchFamily="34" charset="-120"/>
              </a:rPr>
              <a:t>OVERVIEW</a:t>
            </a:r>
            <a:endParaRPr lang="en-US" sz="1300" dirty="0"/>
          </a:p>
        </p:txBody>
      </p:sp>
      <p:sp>
        <p:nvSpPr>
          <p:cNvPr id="3" name="Text 1"/>
          <p:cNvSpPr/>
          <p:nvPr/>
        </p:nvSpPr>
        <p:spPr>
          <a:xfrm>
            <a:off x="548640" y="594360"/>
            <a:ext cx="10789920" cy="640080"/>
          </a:xfrm>
          <a:prstGeom prst="rect">
            <a:avLst/>
          </a:prstGeom>
          <a:noFill/>
        </p:spPr>
        <p:txBody>
          <a:bodyPr wrap="square" rtlCol="0" anchor="ctr"/>
          <a:lstStyle/>
          <a:p>
            <a:pPr marL="0" indent="0">
              <a:buNone/>
            </a:pPr>
            <a:r>
              <a:rPr lang="en-US" sz="3000" b="1" dirty="0">
                <a:solidFill>
                  <a:srgbClr val="0B1F2A"/>
                </a:solidFill>
                <a:latin typeface="Cambria" panose="02040503050406030204" pitchFamily="34" charset="0"/>
                <a:ea typeface="Cambria" panose="02040503050406030204" pitchFamily="34" charset="-122"/>
                <a:cs typeface="Cambria" panose="02040503050406030204" pitchFamily="34" charset="-120"/>
              </a:rPr>
              <a:t>Abstract</a:t>
            </a:r>
            <a:endParaRPr lang="en-US" sz="3000" dirty="0"/>
          </a:p>
        </p:txBody>
      </p:sp>
      <p:sp>
        <p:nvSpPr>
          <p:cNvPr id="4" name="Shape 2"/>
          <p:cNvSpPr/>
          <p:nvPr/>
        </p:nvSpPr>
        <p:spPr>
          <a:xfrm>
            <a:off x="548640" y="1463040"/>
            <a:ext cx="6858000" cy="4480560"/>
          </a:xfrm>
          <a:prstGeom prst="rect">
            <a:avLst/>
          </a:prstGeom>
          <a:solidFill>
            <a:srgbClr val="F4F9F8"/>
          </a:solidFill>
        </p:spPr>
      </p:sp>
      <p:sp>
        <p:nvSpPr>
          <p:cNvPr id="5" name="Text 3"/>
          <p:cNvSpPr/>
          <p:nvPr/>
        </p:nvSpPr>
        <p:spPr>
          <a:xfrm>
            <a:off x="822960" y="1691640"/>
            <a:ext cx="6309360" cy="4023360"/>
          </a:xfrm>
          <a:prstGeom prst="rect">
            <a:avLst/>
          </a:prstGeom>
          <a:noFill/>
        </p:spPr>
        <p:txBody>
          <a:bodyPr wrap="square" rtlCol="0" anchor="t"/>
          <a:lstStyle/>
          <a:p>
            <a:pPr marL="0" indent="0">
              <a:lnSpc>
                <a:spcPts val="2400"/>
              </a:lnSpc>
              <a:buNone/>
            </a:pPr>
            <a:r>
              <a:rPr lang="en-US" sz="1450" dirty="0">
                <a:solidFill>
                  <a:srgbClr val="1A2B32"/>
                </a:solidFill>
                <a:latin typeface="Calibri" panose="020F0502020204030204" pitchFamily="34" charset="0"/>
                <a:ea typeface="Calibri" panose="020F0502020204030204" pitchFamily="34" charset="-122"/>
                <a:cs typeface="Calibri" panose="020F0502020204030204" pitchFamily="34" charset="-120"/>
              </a:rPr>
              <a:t>MEDINEX is a role-based digital health platform with five portals. The admin approves hospitals onto the platform; hospitals add or remove their doctors and manage complaints raised against them; doctors view and edit prescriptions and view patient reports; patients view their reports, chat with an AI assistant, upload reports, and raise complaints about doctors; pharmacists dispense medicines against verified prescriptions and mark them as dispensed.</a:t>
            </a:r>
            <a:endParaRPr lang="en-US" sz="1450" dirty="0"/>
          </a:p>
          <a:p>
            <a:pPr marL="0" indent="0">
              <a:lnSpc>
                <a:spcPts val="2400"/>
              </a:lnSpc>
              <a:buNone/>
            </a:pPr>
            <a:endParaRPr lang="en-US" sz="1450" dirty="0"/>
          </a:p>
          <a:p>
            <a:pPr marL="0" indent="0">
              <a:lnSpc>
                <a:spcPts val="2400"/>
              </a:lnSpc>
              <a:buNone/>
            </a:pPr>
            <a:r>
              <a:rPr lang="en-US" sz="1450" dirty="0">
                <a:solidFill>
                  <a:srgbClr val="1A2B32"/>
                </a:solidFill>
                <a:latin typeface="Calibri" panose="020F0502020204030204" pitchFamily="34" charset="0"/>
                <a:ea typeface="Calibri" panose="020F0502020204030204" pitchFamily="34" charset="-122"/>
                <a:cs typeface="Calibri" panose="020F0502020204030204" pitchFamily="34" charset="-120"/>
              </a:rPr>
              <a:t>In the manual system, a single paper prescription can be reused at multiple pharmacies, leading to unwanted or unsupervised use of drugs. MEDINEX locks each prescription after it is dispensed so it cannot be reused, backed by AI-assisted verification that flags dosage or interaction issues before medicines reach the patient.</a:t>
            </a:r>
            <a:endParaRPr lang="en-US" sz="1450" dirty="0"/>
          </a:p>
        </p:txBody>
      </p:sp>
      <p:sp>
        <p:nvSpPr>
          <p:cNvPr id="6" name="Shape 4"/>
          <p:cNvSpPr/>
          <p:nvPr/>
        </p:nvSpPr>
        <p:spPr>
          <a:xfrm>
            <a:off x="7863840" y="1554480"/>
            <a:ext cx="3749040" cy="1280160"/>
          </a:xfrm>
          <a:prstGeom prst="rect">
            <a:avLst/>
          </a:prstGeom>
          <a:solidFill>
            <a:srgbClr val="028090"/>
          </a:solidFill>
        </p:spPr>
      </p:sp>
      <p:sp>
        <p:nvSpPr>
          <p:cNvPr id="7" name="Text 5"/>
          <p:cNvSpPr/>
          <p:nvPr/>
        </p:nvSpPr>
        <p:spPr>
          <a:xfrm>
            <a:off x="8092440" y="1645920"/>
            <a:ext cx="1371600" cy="822960"/>
          </a:xfrm>
          <a:prstGeom prst="rect">
            <a:avLst/>
          </a:prstGeom>
          <a:noFill/>
        </p:spPr>
        <p:txBody>
          <a:bodyPr wrap="square"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5</a:t>
            </a:r>
            <a:endParaRPr lang="en-US" sz="3400" dirty="0"/>
          </a:p>
        </p:txBody>
      </p:sp>
      <p:sp>
        <p:nvSpPr>
          <p:cNvPr id="8" name="Text 6"/>
          <p:cNvSpPr/>
          <p:nvPr/>
        </p:nvSpPr>
        <p:spPr>
          <a:xfrm>
            <a:off x="9326880" y="1645920"/>
            <a:ext cx="2103120" cy="1097280"/>
          </a:xfrm>
          <a:prstGeom prst="rect">
            <a:avLst/>
          </a:prstGeom>
          <a:noFill/>
        </p:spPr>
        <p:txBody>
          <a:bodyPr wrap="square" rtlCol="0" anchor="ctr"/>
          <a:lstStyle/>
          <a:p>
            <a:pPr marL="0" indent="0">
              <a:buNone/>
            </a:pPr>
            <a:r>
              <a:rPr lang="en-US" sz="1300" dirty="0">
                <a:solidFill>
                  <a:srgbClr val="D8EFEC"/>
                </a:solidFill>
                <a:latin typeface="Calibri" panose="020F0502020204030204" pitchFamily="34" charset="0"/>
                <a:ea typeface="Calibri" panose="020F0502020204030204" pitchFamily="34" charset="-122"/>
                <a:cs typeface="Calibri" panose="020F0502020204030204" pitchFamily="34" charset="-120"/>
              </a:rPr>
              <a:t>User roles</a:t>
            </a:r>
            <a:endParaRPr lang="en-US" sz="1300" dirty="0"/>
          </a:p>
        </p:txBody>
      </p:sp>
      <p:sp>
        <p:nvSpPr>
          <p:cNvPr id="9" name="Shape 7"/>
          <p:cNvSpPr/>
          <p:nvPr/>
        </p:nvSpPr>
        <p:spPr>
          <a:xfrm>
            <a:off x="7863840" y="3063240"/>
            <a:ext cx="3749040" cy="1280160"/>
          </a:xfrm>
          <a:prstGeom prst="rect">
            <a:avLst/>
          </a:prstGeom>
          <a:solidFill>
            <a:srgbClr val="028090"/>
          </a:solidFill>
        </p:spPr>
      </p:sp>
      <p:sp>
        <p:nvSpPr>
          <p:cNvPr id="10" name="Text 8"/>
          <p:cNvSpPr/>
          <p:nvPr/>
        </p:nvSpPr>
        <p:spPr>
          <a:xfrm>
            <a:off x="8092440" y="3154680"/>
            <a:ext cx="1371600" cy="822960"/>
          </a:xfrm>
          <a:prstGeom prst="rect">
            <a:avLst/>
          </a:prstGeom>
          <a:noFill/>
        </p:spPr>
        <p:txBody>
          <a:bodyPr wrap="square"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21</a:t>
            </a:r>
            <a:endParaRPr lang="en-US" sz="3400" dirty="0"/>
          </a:p>
        </p:txBody>
      </p:sp>
      <p:sp>
        <p:nvSpPr>
          <p:cNvPr id="11" name="Text 9"/>
          <p:cNvSpPr/>
          <p:nvPr/>
        </p:nvSpPr>
        <p:spPr>
          <a:xfrm>
            <a:off x="9326880" y="3154680"/>
            <a:ext cx="2103120" cy="1097280"/>
          </a:xfrm>
          <a:prstGeom prst="rect">
            <a:avLst/>
          </a:prstGeom>
          <a:noFill/>
        </p:spPr>
        <p:txBody>
          <a:bodyPr wrap="square" rtlCol="0" anchor="ctr"/>
          <a:lstStyle/>
          <a:p>
            <a:pPr marL="0" indent="0">
              <a:buNone/>
            </a:pPr>
            <a:r>
              <a:rPr lang="en-US" sz="1300" dirty="0">
                <a:solidFill>
                  <a:srgbClr val="D8EFEC"/>
                </a:solidFill>
                <a:latin typeface="Calibri" panose="020F0502020204030204" pitchFamily="34" charset="0"/>
                <a:ea typeface="Calibri" panose="020F0502020204030204" pitchFamily="34" charset="-122"/>
                <a:cs typeface="Calibri" panose="020F0502020204030204" pitchFamily="34" charset="-120"/>
              </a:rPr>
              <a:t>Database tables</a:t>
            </a:r>
            <a:endParaRPr lang="en-US" sz="1300" dirty="0"/>
          </a:p>
        </p:txBody>
      </p:sp>
      <p:sp>
        <p:nvSpPr>
          <p:cNvPr id="12" name="Shape 10"/>
          <p:cNvSpPr/>
          <p:nvPr/>
        </p:nvSpPr>
        <p:spPr>
          <a:xfrm>
            <a:off x="7863840" y="4572000"/>
            <a:ext cx="3749040" cy="1280160"/>
          </a:xfrm>
          <a:prstGeom prst="rect">
            <a:avLst/>
          </a:prstGeom>
          <a:solidFill>
            <a:srgbClr val="028090"/>
          </a:solidFill>
        </p:spPr>
      </p:sp>
      <p:sp>
        <p:nvSpPr>
          <p:cNvPr id="13" name="Text 11"/>
          <p:cNvSpPr/>
          <p:nvPr/>
        </p:nvSpPr>
        <p:spPr>
          <a:xfrm>
            <a:off x="8092440" y="4663440"/>
            <a:ext cx="1371600" cy="822960"/>
          </a:xfrm>
          <a:prstGeom prst="rect">
            <a:avLst/>
          </a:prstGeom>
          <a:noFill/>
        </p:spPr>
        <p:txBody>
          <a:bodyPr wrap="square" rtlCol="0" anchor="ctr"/>
          <a:lstStyle/>
          <a:p>
            <a:pPr marL="0" indent="0">
              <a:buNone/>
            </a:pPr>
            <a:r>
              <a:rPr lang="en-US" sz="3400" b="1" dirty="0">
                <a:solidFill>
                  <a:srgbClr val="FFFFFF"/>
                </a:solidFill>
                <a:latin typeface="Cambria" panose="02040503050406030204" pitchFamily="34" charset="0"/>
                <a:ea typeface="Cambria" panose="02040503050406030204" pitchFamily="34" charset="-122"/>
                <a:cs typeface="Cambria" panose="02040503050406030204" pitchFamily="34" charset="-120"/>
              </a:rPr>
              <a:t>AI</a:t>
            </a:r>
            <a:endParaRPr lang="en-US" sz="3400" dirty="0"/>
          </a:p>
        </p:txBody>
      </p:sp>
      <p:sp>
        <p:nvSpPr>
          <p:cNvPr id="14" name="Text 12"/>
          <p:cNvSpPr/>
          <p:nvPr/>
        </p:nvSpPr>
        <p:spPr>
          <a:xfrm>
            <a:off x="9326880" y="4663440"/>
            <a:ext cx="2103120" cy="1097280"/>
          </a:xfrm>
          <a:prstGeom prst="rect">
            <a:avLst/>
          </a:prstGeom>
          <a:noFill/>
        </p:spPr>
        <p:txBody>
          <a:bodyPr wrap="square" rtlCol="0" anchor="ctr"/>
          <a:lstStyle/>
          <a:p>
            <a:pPr marL="0" indent="0">
              <a:buNone/>
            </a:pPr>
            <a:r>
              <a:rPr lang="en-US" sz="1300" dirty="0">
                <a:solidFill>
                  <a:srgbClr val="D8EFEC"/>
                </a:solidFill>
                <a:latin typeface="Calibri" panose="020F0502020204030204" pitchFamily="34" charset="0"/>
                <a:ea typeface="Calibri" panose="020F0502020204030204" pitchFamily="34" charset="-122"/>
                <a:cs typeface="Calibri" panose="020F0502020204030204" pitchFamily="34" charset="-120"/>
              </a:rPr>
              <a:t>Prescription check</a:t>
            </a:r>
            <a:endParaRPr lang="en-US" sz="1300" dirty="0"/>
          </a:p>
        </p:txBody>
      </p:sp>
      <p:sp>
        <p:nvSpPr>
          <p:cNvPr id="15" name="Text 13"/>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5C7078"/>
                </a:solidFill>
                <a:latin typeface="Calibri" panose="020F0502020204030204" pitchFamily="34" charset="0"/>
                <a:ea typeface="Calibri" panose="020F0502020204030204" pitchFamily="34" charset="-122"/>
                <a:cs typeface="Calibri" panose="020F0502020204030204" pitchFamily="34" charset="-120"/>
              </a:rPr>
              <a:t>MEDINEX — Mini Project 2 — Review 1</a:t>
            </a:r>
            <a:endParaRPr lang="en-US" sz="900" dirty="0"/>
          </a:p>
        </p:txBody>
      </p:sp>
      <p:sp>
        <p:nvSpPr>
          <p:cNvPr id="16" name="Text 14"/>
          <p:cNvSpPr/>
          <p:nvPr/>
        </p:nvSpPr>
        <p:spPr>
          <a:xfrm>
            <a:off x="11521440" y="6537960"/>
            <a:ext cx="457200" cy="274320"/>
          </a:xfrm>
          <a:prstGeom prst="rect">
            <a:avLst/>
          </a:prstGeom>
          <a:noFill/>
        </p:spPr>
        <p:txBody>
          <a:bodyPr wrap="square" rtlCol="0" anchor="ctr"/>
          <a:lstStyle/>
          <a:p>
            <a:pPr marL="0" indent="0" algn="r">
              <a:buNone/>
            </a:pPr>
            <a:r>
              <a:rPr lang="en-US" sz="900" dirty="0">
                <a:solidFill>
                  <a:srgbClr val="5C7078"/>
                </a:solidFill>
                <a:latin typeface="Calibri" panose="020F0502020204030204" pitchFamily="34" charset="0"/>
                <a:ea typeface="Calibri" panose="020F0502020204030204" pitchFamily="34" charset="-122"/>
                <a:cs typeface="Calibri" panose="020F0502020204030204"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p:spPr>
        <p:txBody>
          <a:bodyPr wrap="square" rtlCol="0" anchor="ctr"/>
          <a:lstStyle/>
          <a:p>
            <a:pPr marL="0" indent="0">
              <a:buNone/>
            </a:pPr>
            <a:r>
              <a:rPr lang="en-US" sz="1300" b="1" kern="0" spc="200" dirty="0">
                <a:solidFill>
                  <a:srgbClr val="00A896"/>
                </a:solidFill>
                <a:latin typeface="Calibri" panose="020F0502020204030204" pitchFamily="34" charset="0"/>
                <a:ea typeface="Calibri" panose="020F0502020204030204" pitchFamily="34" charset="-122"/>
                <a:cs typeface="Calibri" panose="020F0502020204030204" pitchFamily="34" charset="-120"/>
              </a:rPr>
              <a:t>SYSTEM STUDY</a:t>
            </a:r>
            <a:endParaRPr lang="en-US" sz="1300" dirty="0"/>
          </a:p>
        </p:txBody>
      </p:sp>
      <p:sp>
        <p:nvSpPr>
          <p:cNvPr id="3" name="Text 1"/>
          <p:cNvSpPr/>
          <p:nvPr/>
        </p:nvSpPr>
        <p:spPr>
          <a:xfrm>
            <a:off x="548640" y="594360"/>
            <a:ext cx="10789920" cy="640080"/>
          </a:xfrm>
          <a:prstGeom prst="rect">
            <a:avLst/>
          </a:prstGeom>
          <a:noFill/>
        </p:spPr>
        <p:txBody>
          <a:bodyPr wrap="square" rtlCol="0" anchor="ctr"/>
          <a:lstStyle/>
          <a:p>
            <a:pPr marL="0" indent="0">
              <a:buNone/>
            </a:pPr>
            <a:r>
              <a:rPr lang="en-US" sz="3000" b="1" dirty="0">
                <a:solidFill>
                  <a:srgbClr val="0B1F2A"/>
                </a:solidFill>
                <a:latin typeface="Cambria" panose="02040503050406030204" pitchFamily="34" charset="0"/>
                <a:ea typeface="Cambria" panose="02040503050406030204" pitchFamily="34" charset="-122"/>
                <a:cs typeface="Cambria" panose="02040503050406030204" pitchFamily="34" charset="-120"/>
              </a:rPr>
              <a:t>Existing System vs. Proposed System</a:t>
            </a:r>
            <a:endParaRPr lang="en-US" sz="3000" dirty="0"/>
          </a:p>
        </p:txBody>
      </p:sp>
      <p:sp>
        <p:nvSpPr>
          <p:cNvPr id="4" name="Shape 2"/>
          <p:cNvSpPr/>
          <p:nvPr/>
        </p:nvSpPr>
        <p:spPr>
          <a:xfrm>
            <a:off x="548640" y="1463040"/>
            <a:ext cx="5303520" cy="4480560"/>
          </a:xfrm>
          <a:prstGeom prst="rect">
            <a:avLst/>
          </a:prstGeom>
          <a:solidFill>
            <a:srgbClr val="F2F2F2"/>
          </a:solidFill>
        </p:spPr>
      </p:sp>
      <p:sp>
        <p:nvSpPr>
          <p:cNvPr id="5" name="Shape 3"/>
          <p:cNvSpPr/>
          <p:nvPr/>
        </p:nvSpPr>
        <p:spPr>
          <a:xfrm>
            <a:off x="548640" y="1463040"/>
            <a:ext cx="5303520" cy="502920"/>
          </a:xfrm>
          <a:prstGeom prst="rect">
            <a:avLst/>
          </a:prstGeom>
          <a:solidFill>
            <a:srgbClr val="5C7078"/>
          </a:solidFill>
        </p:spPr>
      </p:sp>
      <p:sp>
        <p:nvSpPr>
          <p:cNvPr id="6" name="Text 4"/>
          <p:cNvSpPr/>
          <p:nvPr/>
        </p:nvSpPr>
        <p:spPr>
          <a:xfrm>
            <a:off x="777240" y="1463040"/>
            <a:ext cx="4846320" cy="502920"/>
          </a:xfrm>
          <a:prstGeom prst="rect">
            <a:avLst/>
          </a:prstGeom>
          <a:noFill/>
        </p:spPr>
        <p:txBody>
          <a:bodyPr wrap="square" rtlCol="0" anchor="ctr"/>
          <a:lstStyle/>
          <a:p>
            <a:pPr marL="0" indent="0">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Existing (Manual) System</a:t>
            </a:r>
            <a:endParaRPr lang="en-US" sz="1500" dirty="0"/>
          </a:p>
        </p:txBody>
      </p:sp>
      <p:sp>
        <p:nvSpPr>
          <p:cNvPr id="7" name="Text 5"/>
          <p:cNvSpPr/>
          <p:nvPr/>
        </p:nvSpPr>
        <p:spPr>
          <a:xfrm>
            <a:off x="868680" y="2148840"/>
            <a:ext cx="4663440" cy="3566160"/>
          </a:xfrm>
          <a:prstGeom prst="rect">
            <a:avLst/>
          </a:prstGeom>
          <a:noFill/>
        </p:spPr>
        <p:txBody>
          <a:bodyPr wrap="square" rtlCol="0" anchor="t"/>
          <a:lstStyle/>
          <a:p>
            <a:pPr marL="342900" indent="-342900">
              <a:lnSpc>
                <a:spcPts val="2200"/>
              </a:lnSpc>
              <a:spcAft>
                <a:spcPts val="1000"/>
              </a:spcAft>
              <a:buSzPct val="100000"/>
              <a:buChar char="▪"/>
            </a:pPr>
            <a:r>
              <a:rPr lang="en-US" sz="1300" dirty="0">
                <a:solidFill>
                  <a:srgbClr val="1A2B32"/>
                </a:solidFill>
                <a:latin typeface="Calibri" panose="020F0502020204030204" pitchFamily="34" charset="0"/>
                <a:ea typeface="Calibri" panose="020F0502020204030204" pitchFamily="34" charset="-122"/>
                <a:cs typeface="Calibri" panose="020F0502020204030204" pitchFamily="34" charset="-120"/>
              </a:rPr>
              <a:t>Paper prescriptions, easily lost or misread</a:t>
            </a:r>
            <a:endParaRPr lang="en-US" sz="1300" dirty="0"/>
          </a:p>
          <a:p>
            <a:pPr marL="342900" indent="-342900">
              <a:lnSpc>
                <a:spcPts val="2200"/>
              </a:lnSpc>
              <a:spcAft>
                <a:spcPts val="1000"/>
              </a:spcAft>
              <a:buSzPct val="100000"/>
              <a:buChar char="▪"/>
            </a:pPr>
            <a:r>
              <a:rPr lang="en-US" sz="1300" dirty="0">
                <a:solidFill>
                  <a:srgbClr val="1A2B32"/>
                </a:solidFill>
                <a:latin typeface="Calibri" panose="020F0502020204030204" pitchFamily="34" charset="0"/>
                <a:ea typeface="Calibri" panose="020F0502020204030204" pitchFamily="34" charset="-122"/>
                <a:cs typeface="Calibri" panose="020F0502020204030204" pitchFamily="34" charset="-120"/>
              </a:rPr>
              <a:t>No shared history between hospitals/pharmacies</a:t>
            </a:r>
            <a:endParaRPr lang="en-US" sz="1300" dirty="0"/>
          </a:p>
          <a:p>
            <a:pPr marL="342900" indent="-342900">
              <a:lnSpc>
                <a:spcPts val="2200"/>
              </a:lnSpc>
              <a:spcAft>
                <a:spcPts val="1000"/>
              </a:spcAft>
              <a:buSzPct val="100000"/>
              <a:buChar char="▪"/>
            </a:pPr>
            <a:r>
              <a:rPr lang="en-US" sz="1300" dirty="0">
                <a:solidFill>
                  <a:srgbClr val="1A2B32"/>
                </a:solidFill>
                <a:latin typeface="Calibri" panose="020F0502020204030204" pitchFamily="34" charset="0"/>
                <a:ea typeface="Calibri" panose="020F0502020204030204" pitchFamily="34" charset="-122"/>
                <a:cs typeface="Calibri" panose="020F0502020204030204" pitchFamily="34" charset="-120"/>
              </a:rPr>
              <a:t>Manual dosage cross-checking, error-prone</a:t>
            </a:r>
            <a:endParaRPr lang="en-US" sz="1300" dirty="0"/>
          </a:p>
          <a:p>
            <a:pPr marL="342900" indent="-342900">
              <a:lnSpc>
                <a:spcPts val="2200"/>
              </a:lnSpc>
              <a:spcAft>
                <a:spcPts val="1000"/>
              </a:spcAft>
              <a:buSzPct val="100000"/>
              <a:buChar char="▪"/>
            </a:pPr>
            <a:r>
              <a:rPr lang="en-US" sz="1300" dirty="0">
                <a:solidFill>
                  <a:srgbClr val="1A2B32"/>
                </a:solidFill>
                <a:latin typeface="Calibri" panose="020F0502020204030204" pitchFamily="34" charset="0"/>
                <a:ea typeface="Calibri" panose="020F0502020204030204" pitchFamily="34" charset="-122"/>
                <a:cs typeface="Calibri" panose="020F0502020204030204" pitchFamily="34" charset="-120"/>
              </a:rPr>
              <a:t>Patient complaints handled informally</a:t>
            </a:r>
            <a:endParaRPr lang="en-US" sz="1300" dirty="0"/>
          </a:p>
          <a:p>
            <a:pPr marL="342900" indent="-342900">
              <a:lnSpc>
                <a:spcPts val="2200"/>
              </a:lnSpc>
              <a:spcAft>
                <a:spcPts val="1000"/>
              </a:spcAft>
              <a:buSzPct val="100000"/>
              <a:buChar char="▪"/>
            </a:pPr>
            <a:r>
              <a:rPr lang="en-US" sz="1300" dirty="0">
                <a:solidFill>
                  <a:srgbClr val="1A2B32"/>
                </a:solidFill>
                <a:latin typeface="Calibri" panose="020F0502020204030204" pitchFamily="34" charset="0"/>
                <a:ea typeface="Calibri" panose="020F0502020204030204" pitchFamily="34" charset="-122"/>
                <a:cs typeface="Calibri" panose="020F0502020204030204" pitchFamily="34" charset="-120"/>
              </a:rPr>
              <a:t>Lab reports exchanged as physical printouts</a:t>
            </a:r>
            <a:endParaRPr lang="en-US" sz="1300" dirty="0"/>
          </a:p>
          <a:p>
            <a:pPr marL="342900" indent="-342900">
              <a:lnSpc>
                <a:spcPts val="2200"/>
              </a:lnSpc>
              <a:spcAft>
                <a:spcPts val="1000"/>
              </a:spcAft>
              <a:buSzPct val="100000"/>
              <a:buChar char="▪"/>
            </a:pPr>
            <a:r>
              <a:rPr lang="en-US" sz="1300" dirty="0">
                <a:solidFill>
                  <a:srgbClr val="1A2B32"/>
                </a:solidFill>
                <a:latin typeface="Calibri" panose="020F0502020204030204" pitchFamily="34" charset="0"/>
                <a:ea typeface="Calibri" panose="020F0502020204030204" pitchFamily="34" charset="-122"/>
                <a:cs typeface="Calibri" panose="020F0502020204030204" pitchFamily="34" charset="-120"/>
              </a:rPr>
              <a:t>Same prescription reused multiple times — unwanted, unsupervised drug use</a:t>
            </a:r>
            <a:endParaRPr lang="en-US" sz="1300" dirty="0"/>
          </a:p>
        </p:txBody>
      </p:sp>
      <p:sp>
        <p:nvSpPr>
          <p:cNvPr id="8" name="Shape 6"/>
          <p:cNvSpPr/>
          <p:nvPr/>
        </p:nvSpPr>
        <p:spPr>
          <a:xfrm>
            <a:off x="6172200" y="1463040"/>
            <a:ext cx="5303520" cy="4480560"/>
          </a:xfrm>
          <a:prstGeom prst="rect">
            <a:avLst/>
          </a:prstGeom>
          <a:solidFill>
            <a:srgbClr val="E6F5F3"/>
          </a:solidFill>
        </p:spPr>
      </p:sp>
      <p:sp>
        <p:nvSpPr>
          <p:cNvPr id="9" name="Shape 7"/>
          <p:cNvSpPr/>
          <p:nvPr/>
        </p:nvSpPr>
        <p:spPr>
          <a:xfrm>
            <a:off x="6172200" y="1463040"/>
            <a:ext cx="5303520" cy="502920"/>
          </a:xfrm>
          <a:prstGeom prst="rect">
            <a:avLst/>
          </a:prstGeom>
          <a:solidFill>
            <a:srgbClr val="028090"/>
          </a:solidFill>
        </p:spPr>
      </p:sp>
      <p:sp>
        <p:nvSpPr>
          <p:cNvPr id="10" name="Text 8"/>
          <p:cNvSpPr/>
          <p:nvPr/>
        </p:nvSpPr>
        <p:spPr>
          <a:xfrm>
            <a:off x="6400800" y="1463040"/>
            <a:ext cx="4846320" cy="502920"/>
          </a:xfrm>
          <a:prstGeom prst="rect">
            <a:avLst/>
          </a:prstGeom>
          <a:noFill/>
        </p:spPr>
        <p:txBody>
          <a:bodyPr wrap="square" rtlCol="0" anchor="ctr"/>
          <a:lstStyle/>
          <a:p>
            <a:pPr marL="0" indent="0">
              <a:buNone/>
            </a:pPr>
            <a:r>
              <a:rPr lang="en-US" sz="1500" b="1" dirty="0">
                <a:solidFill>
                  <a:srgbClr val="FFFFFF"/>
                </a:solidFill>
                <a:latin typeface="Cambria" panose="02040503050406030204" pitchFamily="34" charset="0"/>
                <a:ea typeface="Cambria" panose="02040503050406030204" pitchFamily="34" charset="-122"/>
                <a:cs typeface="Cambria" panose="02040503050406030204" pitchFamily="34" charset="-120"/>
              </a:rPr>
              <a:t>Proposed System — MEDINEX</a:t>
            </a:r>
            <a:endParaRPr lang="en-US" sz="1500" dirty="0"/>
          </a:p>
        </p:txBody>
      </p:sp>
      <p:sp>
        <p:nvSpPr>
          <p:cNvPr id="11" name="Text 9"/>
          <p:cNvSpPr/>
          <p:nvPr/>
        </p:nvSpPr>
        <p:spPr>
          <a:xfrm>
            <a:off x="6492240" y="2148840"/>
            <a:ext cx="4663440" cy="3566160"/>
          </a:xfrm>
          <a:prstGeom prst="rect">
            <a:avLst/>
          </a:prstGeom>
          <a:noFill/>
        </p:spPr>
        <p:txBody>
          <a:bodyPr wrap="square" rtlCol="0" anchor="t"/>
          <a:lstStyle/>
          <a:p>
            <a:pPr marL="342900" indent="-342900">
              <a:lnSpc>
                <a:spcPts val="2200"/>
              </a:lnSpc>
              <a:spcAft>
                <a:spcPts val="1000"/>
              </a:spcAft>
              <a:buSzPct val="100000"/>
              <a:buChar char="▪"/>
            </a:pPr>
            <a:r>
              <a:rPr lang="en-US" sz="1300" dirty="0">
                <a:solidFill>
                  <a:srgbClr val="1A2B32"/>
                </a:solidFill>
                <a:latin typeface="Calibri" panose="020F0502020204030204" pitchFamily="34" charset="0"/>
                <a:ea typeface="Calibri" panose="020F0502020204030204" pitchFamily="34" charset="-122"/>
                <a:cs typeface="Calibri" panose="020F0502020204030204" pitchFamily="34" charset="-120"/>
              </a:rPr>
              <a:t>Centralized digital health record per patient</a:t>
            </a:r>
            <a:endParaRPr lang="en-US" sz="1300" dirty="0"/>
          </a:p>
          <a:p>
            <a:pPr marL="342900" indent="-342900">
              <a:lnSpc>
                <a:spcPts val="2200"/>
              </a:lnSpc>
              <a:spcAft>
                <a:spcPts val="1000"/>
              </a:spcAft>
              <a:buSzPct val="100000"/>
              <a:buChar char="▪"/>
            </a:pPr>
            <a:r>
              <a:rPr lang="en-US" sz="1300" dirty="0">
                <a:solidFill>
                  <a:srgbClr val="1A2B32"/>
                </a:solidFill>
                <a:latin typeface="Calibri" panose="020F0502020204030204" pitchFamily="34" charset="0"/>
                <a:ea typeface="Calibri" panose="020F0502020204030204" pitchFamily="34" charset="-122"/>
                <a:cs typeface="Calibri" panose="020F0502020204030204" pitchFamily="34" charset="-120"/>
              </a:rPr>
              <a:t>Role-based portals: Admin, Hospital, Doctor, Patient, Pharmacist</a:t>
            </a:r>
            <a:endParaRPr lang="en-US" sz="1300" dirty="0"/>
          </a:p>
          <a:p>
            <a:pPr marL="342900" indent="-342900">
              <a:lnSpc>
                <a:spcPts val="2200"/>
              </a:lnSpc>
              <a:spcAft>
                <a:spcPts val="1000"/>
              </a:spcAft>
              <a:buSzPct val="100000"/>
              <a:buChar char="▪"/>
            </a:pPr>
            <a:r>
              <a:rPr lang="en-US" sz="1300" dirty="0">
                <a:solidFill>
                  <a:srgbClr val="1A2B32"/>
                </a:solidFill>
                <a:latin typeface="Calibri" panose="020F0502020204030204" pitchFamily="34" charset="0"/>
                <a:ea typeface="Calibri" panose="020F0502020204030204" pitchFamily="34" charset="-122"/>
                <a:cs typeface="Calibri" panose="020F0502020204030204" pitchFamily="34" charset="-120"/>
              </a:rPr>
              <a:t>AI-assisted prescription verification before dispensing</a:t>
            </a:r>
            <a:endParaRPr lang="en-US" sz="1300" dirty="0"/>
          </a:p>
          <a:p>
            <a:pPr marL="342900" indent="-342900">
              <a:lnSpc>
                <a:spcPts val="2200"/>
              </a:lnSpc>
              <a:spcAft>
                <a:spcPts val="1000"/>
              </a:spcAft>
              <a:buSzPct val="100000"/>
              <a:buChar char="▪"/>
            </a:pPr>
            <a:r>
              <a:rPr lang="en-US" sz="1300" dirty="0">
                <a:solidFill>
                  <a:srgbClr val="1A2B32"/>
                </a:solidFill>
                <a:latin typeface="Calibri" panose="020F0502020204030204" pitchFamily="34" charset="0"/>
                <a:ea typeface="Calibri" panose="020F0502020204030204" pitchFamily="34" charset="-122"/>
                <a:cs typeface="Calibri" panose="020F0502020204030204" pitchFamily="34" charset="-120"/>
              </a:rPr>
              <a:t>Structured complaint tracking with status history</a:t>
            </a:r>
            <a:endParaRPr lang="en-US" sz="1300" dirty="0"/>
          </a:p>
          <a:p>
            <a:pPr marL="342900" indent="-342900">
              <a:lnSpc>
                <a:spcPts val="2200"/>
              </a:lnSpc>
              <a:spcAft>
                <a:spcPts val="1000"/>
              </a:spcAft>
              <a:buSzPct val="100000"/>
              <a:buChar char="▪"/>
            </a:pPr>
            <a:r>
              <a:rPr lang="en-US" sz="1300" dirty="0">
                <a:solidFill>
                  <a:srgbClr val="1A2B32"/>
                </a:solidFill>
                <a:latin typeface="Calibri" panose="020F0502020204030204" pitchFamily="34" charset="0"/>
                <a:ea typeface="Calibri" panose="020F0502020204030204" pitchFamily="34" charset="-122"/>
                <a:cs typeface="Calibri" panose="020F0502020204030204" pitchFamily="34" charset="-120"/>
              </a:rPr>
              <a:t>Secure lab report upload &amp; retrieval</a:t>
            </a:r>
            <a:endParaRPr lang="en-US" sz="1300" dirty="0"/>
          </a:p>
          <a:p>
            <a:pPr marL="342900" indent="-342900">
              <a:lnSpc>
                <a:spcPts val="2200"/>
              </a:lnSpc>
              <a:spcAft>
                <a:spcPts val="1000"/>
              </a:spcAft>
              <a:buSzPct val="100000"/>
              <a:buChar char="▪"/>
            </a:pPr>
            <a:r>
              <a:rPr lang="en-US" sz="1300" dirty="0">
                <a:solidFill>
                  <a:srgbClr val="1A2B32"/>
                </a:solidFill>
                <a:latin typeface="Calibri" panose="020F0502020204030204" pitchFamily="34" charset="0"/>
                <a:ea typeface="Calibri" panose="020F0502020204030204" pitchFamily="34" charset="-122"/>
                <a:cs typeface="Calibri" panose="020F0502020204030204" pitchFamily="34" charset="-120"/>
              </a:rPr>
              <a:t>Prescription locked after dispensing — prevents reuse &amp; misuse of drugs</a:t>
            </a:r>
            <a:endParaRPr lang="en-US" sz="1300" dirty="0"/>
          </a:p>
        </p:txBody>
      </p:sp>
      <p:sp>
        <p:nvSpPr>
          <p:cNvPr id="12" name="Text 10"/>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5C7078"/>
                </a:solidFill>
                <a:latin typeface="Calibri" panose="020F0502020204030204" pitchFamily="34" charset="0"/>
                <a:ea typeface="Calibri" panose="020F0502020204030204" pitchFamily="34" charset="-122"/>
                <a:cs typeface="Calibri" panose="020F0502020204030204" pitchFamily="34" charset="-120"/>
              </a:rPr>
              <a:t>MEDINEX — Mini Project 2 — Review 1</a:t>
            </a:r>
            <a:endParaRPr lang="en-US" sz="900" dirty="0"/>
          </a:p>
        </p:txBody>
      </p:sp>
      <p:sp>
        <p:nvSpPr>
          <p:cNvPr id="13" name="Text 11"/>
          <p:cNvSpPr/>
          <p:nvPr/>
        </p:nvSpPr>
        <p:spPr>
          <a:xfrm>
            <a:off x="11521440" y="6537960"/>
            <a:ext cx="457200" cy="274320"/>
          </a:xfrm>
          <a:prstGeom prst="rect">
            <a:avLst/>
          </a:prstGeom>
          <a:noFill/>
        </p:spPr>
        <p:txBody>
          <a:bodyPr wrap="square" rtlCol="0" anchor="ctr"/>
          <a:lstStyle/>
          <a:p>
            <a:pPr marL="0" indent="0" algn="r">
              <a:buNone/>
            </a:pPr>
            <a:r>
              <a:rPr lang="en-US" sz="900" dirty="0">
                <a:solidFill>
                  <a:srgbClr val="5C7078"/>
                </a:solidFill>
                <a:latin typeface="Calibri" panose="020F0502020204030204" pitchFamily="34" charset="0"/>
                <a:ea typeface="Calibri" panose="020F0502020204030204" pitchFamily="34" charset="-122"/>
                <a:cs typeface="Calibri" panose="020F0502020204030204"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p:spPr>
        <p:txBody>
          <a:bodyPr wrap="square" rtlCol="0" anchor="ctr"/>
          <a:lstStyle/>
          <a:p>
            <a:pPr marL="0" indent="0">
              <a:buNone/>
            </a:pPr>
            <a:r>
              <a:rPr lang="en-US" sz="1300" b="1" kern="0" spc="200" dirty="0">
                <a:solidFill>
                  <a:srgbClr val="00A896"/>
                </a:solidFill>
                <a:latin typeface="Calibri" panose="020F0502020204030204" pitchFamily="34" charset="0"/>
                <a:ea typeface="Calibri" panose="020F0502020204030204" pitchFamily="34" charset="-122"/>
                <a:cs typeface="Calibri" panose="020F0502020204030204" pitchFamily="34" charset="-120"/>
              </a:rPr>
              <a:t>SYSTEM STUDY</a:t>
            </a:r>
            <a:endParaRPr lang="en-US" sz="1300" dirty="0"/>
          </a:p>
        </p:txBody>
      </p:sp>
      <p:sp>
        <p:nvSpPr>
          <p:cNvPr id="3" name="Text 1"/>
          <p:cNvSpPr/>
          <p:nvPr/>
        </p:nvSpPr>
        <p:spPr>
          <a:xfrm>
            <a:off x="548640" y="594360"/>
            <a:ext cx="10789920" cy="640080"/>
          </a:xfrm>
          <a:prstGeom prst="rect">
            <a:avLst/>
          </a:prstGeom>
          <a:noFill/>
        </p:spPr>
        <p:txBody>
          <a:bodyPr wrap="square" rtlCol="0" anchor="ctr"/>
          <a:lstStyle/>
          <a:p>
            <a:pPr marL="0" indent="0">
              <a:buNone/>
            </a:pPr>
            <a:r>
              <a:rPr lang="en-US" sz="3000" b="1" dirty="0">
                <a:solidFill>
                  <a:srgbClr val="0B1F2A"/>
                </a:solidFill>
                <a:latin typeface="Cambria" panose="02040503050406030204" pitchFamily="34" charset="0"/>
                <a:ea typeface="Cambria" panose="02040503050406030204" pitchFamily="34" charset="-122"/>
                <a:cs typeface="Cambria" panose="02040503050406030204" pitchFamily="34" charset="-120"/>
              </a:rPr>
              <a:t>Identified Modules</a:t>
            </a:r>
            <a:endParaRPr lang="en-US" sz="3000" dirty="0"/>
          </a:p>
        </p:txBody>
      </p:sp>
      <p:sp>
        <p:nvSpPr>
          <p:cNvPr id="4" name="Shape 2"/>
          <p:cNvSpPr/>
          <p:nvPr/>
        </p:nvSpPr>
        <p:spPr>
          <a:xfrm>
            <a:off x="548640" y="1737360"/>
            <a:ext cx="2029968" cy="4023360"/>
          </a:xfrm>
          <a:prstGeom prst="roundRect">
            <a:avLst>
              <a:gd name="adj" fmla="val 3604"/>
            </a:avLst>
          </a:prstGeom>
          <a:solidFill>
            <a:srgbClr val="F4F9F8"/>
          </a:solidFill>
          <a:ln w="19050">
            <a:solidFill>
              <a:srgbClr val="028090"/>
            </a:solidFill>
            <a:prstDash val="solid"/>
          </a:ln>
        </p:spPr>
      </p:sp>
      <p:sp>
        <p:nvSpPr>
          <p:cNvPr id="5" name="Shape 3"/>
          <p:cNvSpPr/>
          <p:nvPr/>
        </p:nvSpPr>
        <p:spPr>
          <a:xfrm>
            <a:off x="1243584" y="2011680"/>
            <a:ext cx="640080" cy="640080"/>
          </a:xfrm>
          <a:prstGeom prst="ellipse">
            <a:avLst/>
          </a:prstGeom>
          <a:solidFill>
            <a:srgbClr val="028090"/>
          </a:solidFill>
        </p:spPr>
      </p:sp>
      <p:sp>
        <p:nvSpPr>
          <p:cNvPr id="6" name="Text 4"/>
          <p:cNvSpPr/>
          <p:nvPr/>
        </p:nvSpPr>
        <p:spPr>
          <a:xfrm>
            <a:off x="1243584" y="2011680"/>
            <a:ext cx="640080" cy="640080"/>
          </a:xfrm>
          <a:prstGeom prst="rect">
            <a:avLst/>
          </a:prstGeom>
          <a:noFill/>
        </p:spPr>
        <p:txBody>
          <a:bodyPr wrap="square" rtlCol="0" anchor="ctr"/>
          <a:lstStyle/>
          <a:p>
            <a:pPr marL="0" indent="0" algn="ct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A</a:t>
            </a:r>
            <a:endParaRPr lang="en-US" sz="2200" dirty="0"/>
          </a:p>
        </p:txBody>
      </p:sp>
      <p:sp>
        <p:nvSpPr>
          <p:cNvPr id="7" name="Text 5"/>
          <p:cNvSpPr/>
          <p:nvPr/>
        </p:nvSpPr>
        <p:spPr>
          <a:xfrm>
            <a:off x="640080" y="2788920"/>
            <a:ext cx="1847088" cy="365760"/>
          </a:xfrm>
          <a:prstGeom prst="rect">
            <a:avLst/>
          </a:prstGeom>
          <a:noFill/>
        </p:spPr>
        <p:txBody>
          <a:bodyPr wrap="square" rtlCol="0" anchor="ctr"/>
          <a:lstStyle/>
          <a:p>
            <a:pPr marL="0" indent="0" algn="ctr">
              <a:buNone/>
            </a:pPr>
            <a:r>
              <a:rPr lang="en-US" sz="1500" b="1" dirty="0">
                <a:solidFill>
                  <a:srgbClr val="0B1F2A"/>
                </a:solidFill>
                <a:latin typeface="Cambria" panose="02040503050406030204" pitchFamily="34" charset="0"/>
                <a:ea typeface="Cambria" panose="02040503050406030204" pitchFamily="34" charset="-122"/>
                <a:cs typeface="Cambria" panose="02040503050406030204" pitchFamily="34" charset="-120"/>
              </a:rPr>
              <a:t>Admin</a:t>
            </a:r>
            <a:endParaRPr lang="en-US" sz="1500" dirty="0"/>
          </a:p>
        </p:txBody>
      </p:sp>
      <p:sp>
        <p:nvSpPr>
          <p:cNvPr id="8" name="Text 6"/>
          <p:cNvSpPr/>
          <p:nvPr/>
        </p:nvSpPr>
        <p:spPr>
          <a:xfrm>
            <a:off x="731520" y="3200400"/>
            <a:ext cx="1664208" cy="2377440"/>
          </a:xfrm>
          <a:prstGeom prst="rect">
            <a:avLst/>
          </a:prstGeom>
          <a:noFill/>
        </p:spPr>
        <p:txBody>
          <a:bodyPr wrap="square" rtlCol="0" anchor="t"/>
          <a:lstStyle/>
          <a:p>
            <a:pPr marL="0" indent="0" algn="ctr">
              <a:lnSpc>
                <a:spcPts val="1500"/>
              </a:lnSpc>
              <a:buNone/>
            </a:pPr>
            <a:r>
              <a:rPr lang="en-US" sz="1100" dirty="0">
                <a:solidFill>
                  <a:srgbClr val="5C7078"/>
                </a:solidFill>
                <a:latin typeface="Calibri" panose="020F0502020204030204" pitchFamily="34" charset="0"/>
                <a:ea typeface="Calibri" panose="020F0502020204030204" pitchFamily="34" charset="-122"/>
                <a:cs typeface="Calibri" panose="020F0502020204030204" pitchFamily="34" charset="-120"/>
              </a:rPr>
              <a:t>Approve hospitals onto the platform; overall platform oversight</a:t>
            </a:r>
            <a:endParaRPr lang="en-US" sz="1100" dirty="0"/>
          </a:p>
        </p:txBody>
      </p:sp>
      <p:sp>
        <p:nvSpPr>
          <p:cNvPr id="9" name="Shape 7"/>
          <p:cNvSpPr/>
          <p:nvPr/>
        </p:nvSpPr>
        <p:spPr>
          <a:xfrm>
            <a:off x="2807208" y="1737360"/>
            <a:ext cx="2029968" cy="4023360"/>
          </a:xfrm>
          <a:prstGeom prst="roundRect">
            <a:avLst>
              <a:gd name="adj" fmla="val 3604"/>
            </a:avLst>
          </a:prstGeom>
          <a:solidFill>
            <a:srgbClr val="F4F9F8"/>
          </a:solidFill>
          <a:ln w="19050">
            <a:solidFill>
              <a:srgbClr val="00A896"/>
            </a:solidFill>
            <a:prstDash val="solid"/>
          </a:ln>
        </p:spPr>
      </p:sp>
      <p:sp>
        <p:nvSpPr>
          <p:cNvPr id="10" name="Shape 8"/>
          <p:cNvSpPr/>
          <p:nvPr/>
        </p:nvSpPr>
        <p:spPr>
          <a:xfrm>
            <a:off x="3502152" y="2011680"/>
            <a:ext cx="640080" cy="640080"/>
          </a:xfrm>
          <a:prstGeom prst="ellipse">
            <a:avLst/>
          </a:prstGeom>
          <a:solidFill>
            <a:srgbClr val="00A896"/>
          </a:solidFill>
        </p:spPr>
      </p:sp>
      <p:sp>
        <p:nvSpPr>
          <p:cNvPr id="11" name="Text 9"/>
          <p:cNvSpPr/>
          <p:nvPr/>
        </p:nvSpPr>
        <p:spPr>
          <a:xfrm>
            <a:off x="3502152" y="2011680"/>
            <a:ext cx="640080" cy="640080"/>
          </a:xfrm>
          <a:prstGeom prst="rect">
            <a:avLst/>
          </a:prstGeom>
          <a:noFill/>
        </p:spPr>
        <p:txBody>
          <a:bodyPr wrap="square" rtlCol="0" anchor="ctr"/>
          <a:lstStyle/>
          <a:p>
            <a:pPr marL="0" indent="0" algn="ct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H</a:t>
            </a:r>
            <a:endParaRPr lang="en-US" sz="2200" dirty="0"/>
          </a:p>
        </p:txBody>
      </p:sp>
      <p:sp>
        <p:nvSpPr>
          <p:cNvPr id="12" name="Text 10"/>
          <p:cNvSpPr/>
          <p:nvPr/>
        </p:nvSpPr>
        <p:spPr>
          <a:xfrm>
            <a:off x="2898648" y="2788920"/>
            <a:ext cx="1847088" cy="365760"/>
          </a:xfrm>
          <a:prstGeom prst="rect">
            <a:avLst/>
          </a:prstGeom>
          <a:noFill/>
        </p:spPr>
        <p:txBody>
          <a:bodyPr wrap="square" rtlCol="0" anchor="ctr"/>
          <a:lstStyle/>
          <a:p>
            <a:pPr marL="0" indent="0" algn="ctr">
              <a:buNone/>
            </a:pPr>
            <a:r>
              <a:rPr lang="en-US" sz="1500" b="1" dirty="0">
                <a:solidFill>
                  <a:srgbClr val="0B1F2A"/>
                </a:solidFill>
                <a:latin typeface="Cambria" panose="02040503050406030204" pitchFamily="34" charset="0"/>
                <a:ea typeface="Cambria" panose="02040503050406030204" pitchFamily="34" charset="-122"/>
                <a:cs typeface="Cambria" panose="02040503050406030204" pitchFamily="34" charset="-120"/>
              </a:rPr>
              <a:t>Hospital</a:t>
            </a:r>
            <a:endParaRPr lang="en-US" sz="1500" dirty="0"/>
          </a:p>
        </p:txBody>
      </p:sp>
      <p:sp>
        <p:nvSpPr>
          <p:cNvPr id="13" name="Text 11"/>
          <p:cNvSpPr/>
          <p:nvPr/>
        </p:nvSpPr>
        <p:spPr>
          <a:xfrm>
            <a:off x="2990088" y="3200400"/>
            <a:ext cx="1664208" cy="2377440"/>
          </a:xfrm>
          <a:prstGeom prst="rect">
            <a:avLst/>
          </a:prstGeom>
          <a:noFill/>
        </p:spPr>
        <p:txBody>
          <a:bodyPr wrap="square" rtlCol="0" anchor="t"/>
          <a:lstStyle/>
          <a:p>
            <a:pPr marL="0" indent="0" algn="ctr">
              <a:lnSpc>
                <a:spcPts val="1500"/>
              </a:lnSpc>
              <a:buNone/>
            </a:pPr>
            <a:r>
              <a:rPr lang="en-US" sz="1100" dirty="0">
                <a:solidFill>
                  <a:srgbClr val="5C7078"/>
                </a:solidFill>
                <a:latin typeface="Calibri" panose="020F0502020204030204" pitchFamily="34" charset="0"/>
                <a:ea typeface="Calibri" panose="020F0502020204030204" pitchFamily="34" charset="-122"/>
                <a:cs typeface="Calibri" panose="020F0502020204030204" pitchFamily="34" charset="-120"/>
              </a:rPr>
              <a:t>Add / remove doctors, manage complaints raised against doctors</a:t>
            </a:r>
            <a:endParaRPr lang="en-US" sz="1100" dirty="0"/>
          </a:p>
        </p:txBody>
      </p:sp>
      <p:sp>
        <p:nvSpPr>
          <p:cNvPr id="14" name="Shape 12"/>
          <p:cNvSpPr/>
          <p:nvPr/>
        </p:nvSpPr>
        <p:spPr>
          <a:xfrm>
            <a:off x="5065776" y="1737360"/>
            <a:ext cx="2029968" cy="4023360"/>
          </a:xfrm>
          <a:prstGeom prst="roundRect">
            <a:avLst>
              <a:gd name="adj" fmla="val 3604"/>
            </a:avLst>
          </a:prstGeom>
          <a:solidFill>
            <a:srgbClr val="F4F9F8"/>
          </a:solidFill>
          <a:ln w="19050">
            <a:solidFill>
              <a:srgbClr val="02C39A"/>
            </a:solidFill>
            <a:prstDash val="solid"/>
          </a:ln>
        </p:spPr>
      </p:sp>
      <p:sp>
        <p:nvSpPr>
          <p:cNvPr id="15" name="Shape 13"/>
          <p:cNvSpPr/>
          <p:nvPr/>
        </p:nvSpPr>
        <p:spPr>
          <a:xfrm>
            <a:off x="5760720" y="2011680"/>
            <a:ext cx="640080" cy="640080"/>
          </a:xfrm>
          <a:prstGeom prst="ellipse">
            <a:avLst/>
          </a:prstGeom>
          <a:solidFill>
            <a:srgbClr val="02C39A"/>
          </a:solidFill>
        </p:spPr>
      </p:sp>
      <p:sp>
        <p:nvSpPr>
          <p:cNvPr id="16" name="Text 14"/>
          <p:cNvSpPr/>
          <p:nvPr/>
        </p:nvSpPr>
        <p:spPr>
          <a:xfrm>
            <a:off x="5760720" y="2011680"/>
            <a:ext cx="640080" cy="640080"/>
          </a:xfrm>
          <a:prstGeom prst="rect">
            <a:avLst/>
          </a:prstGeom>
          <a:noFill/>
        </p:spPr>
        <p:txBody>
          <a:bodyPr wrap="square" rtlCol="0" anchor="ctr"/>
          <a:lstStyle/>
          <a:p>
            <a:pPr marL="0" indent="0" algn="ct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D</a:t>
            </a:r>
            <a:endParaRPr lang="en-US" sz="2200" dirty="0"/>
          </a:p>
        </p:txBody>
      </p:sp>
      <p:sp>
        <p:nvSpPr>
          <p:cNvPr id="17" name="Text 15"/>
          <p:cNvSpPr/>
          <p:nvPr/>
        </p:nvSpPr>
        <p:spPr>
          <a:xfrm>
            <a:off x="5157216" y="2788920"/>
            <a:ext cx="1847088" cy="365760"/>
          </a:xfrm>
          <a:prstGeom prst="rect">
            <a:avLst/>
          </a:prstGeom>
          <a:noFill/>
        </p:spPr>
        <p:txBody>
          <a:bodyPr wrap="square" rtlCol="0" anchor="ctr"/>
          <a:lstStyle/>
          <a:p>
            <a:pPr marL="0" indent="0" algn="ctr">
              <a:buNone/>
            </a:pPr>
            <a:r>
              <a:rPr lang="en-US" sz="1500" b="1" dirty="0">
                <a:solidFill>
                  <a:srgbClr val="0B1F2A"/>
                </a:solidFill>
                <a:latin typeface="Cambria" panose="02040503050406030204" pitchFamily="34" charset="0"/>
                <a:ea typeface="Cambria" panose="02040503050406030204" pitchFamily="34" charset="-122"/>
                <a:cs typeface="Cambria" panose="02040503050406030204" pitchFamily="34" charset="-120"/>
              </a:rPr>
              <a:t>Doctor</a:t>
            </a:r>
            <a:endParaRPr lang="en-US" sz="1500" dirty="0"/>
          </a:p>
        </p:txBody>
      </p:sp>
      <p:sp>
        <p:nvSpPr>
          <p:cNvPr id="18" name="Text 16"/>
          <p:cNvSpPr/>
          <p:nvPr/>
        </p:nvSpPr>
        <p:spPr>
          <a:xfrm>
            <a:off x="5248656" y="3200400"/>
            <a:ext cx="1664208" cy="2377440"/>
          </a:xfrm>
          <a:prstGeom prst="rect">
            <a:avLst/>
          </a:prstGeom>
          <a:noFill/>
        </p:spPr>
        <p:txBody>
          <a:bodyPr wrap="square" rtlCol="0" anchor="t"/>
          <a:lstStyle/>
          <a:p>
            <a:pPr marL="0" indent="0" algn="ctr">
              <a:lnSpc>
                <a:spcPts val="1500"/>
              </a:lnSpc>
              <a:buNone/>
            </a:pPr>
            <a:r>
              <a:rPr lang="en-US" sz="1100" dirty="0">
                <a:solidFill>
                  <a:srgbClr val="5C7078"/>
                </a:solidFill>
                <a:latin typeface="Calibri" panose="020F0502020204030204" pitchFamily="34" charset="0"/>
                <a:ea typeface="Calibri" panose="020F0502020204030204" pitchFamily="34" charset="-122"/>
                <a:cs typeface="Calibri" panose="020F0502020204030204" pitchFamily="34" charset="-120"/>
              </a:rPr>
              <a:t>View &amp; edit prescriptions, view patient reports</a:t>
            </a:r>
            <a:endParaRPr lang="en-US" sz="1100" dirty="0"/>
          </a:p>
        </p:txBody>
      </p:sp>
      <p:sp>
        <p:nvSpPr>
          <p:cNvPr id="19" name="Shape 17"/>
          <p:cNvSpPr/>
          <p:nvPr/>
        </p:nvSpPr>
        <p:spPr>
          <a:xfrm>
            <a:off x="7324344" y="1737360"/>
            <a:ext cx="2029968" cy="4023360"/>
          </a:xfrm>
          <a:prstGeom prst="roundRect">
            <a:avLst>
              <a:gd name="adj" fmla="val 3604"/>
            </a:avLst>
          </a:prstGeom>
          <a:solidFill>
            <a:srgbClr val="F4F9F8"/>
          </a:solidFill>
          <a:ln w="19050">
            <a:solidFill>
              <a:srgbClr val="0B6E7C"/>
            </a:solidFill>
            <a:prstDash val="solid"/>
          </a:ln>
        </p:spPr>
      </p:sp>
      <p:sp>
        <p:nvSpPr>
          <p:cNvPr id="20" name="Shape 18"/>
          <p:cNvSpPr/>
          <p:nvPr/>
        </p:nvSpPr>
        <p:spPr>
          <a:xfrm>
            <a:off x="8019288" y="2011680"/>
            <a:ext cx="640080" cy="640080"/>
          </a:xfrm>
          <a:prstGeom prst="ellipse">
            <a:avLst/>
          </a:prstGeom>
          <a:solidFill>
            <a:srgbClr val="0B6E7C"/>
          </a:solidFill>
        </p:spPr>
      </p:sp>
      <p:sp>
        <p:nvSpPr>
          <p:cNvPr id="21" name="Text 19"/>
          <p:cNvSpPr/>
          <p:nvPr/>
        </p:nvSpPr>
        <p:spPr>
          <a:xfrm>
            <a:off x="8019288" y="2011680"/>
            <a:ext cx="640080" cy="640080"/>
          </a:xfrm>
          <a:prstGeom prst="rect">
            <a:avLst/>
          </a:prstGeom>
          <a:noFill/>
        </p:spPr>
        <p:txBody>
          <a:bodyPr wrap="square" rtlCol="0" anchor="ctr"/>
          <a:lstStyle/>
          <a:p>
            <a:pPr marL="0" indent="0" algn="ct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P</a:t>
            </a:r>
            <a:endParaRPr lang="en-US" sz="2200" dirty="0"/>
          </a:p>
        </p:txBody>
      </p:sp>
      <p:sp>
        <p:nvSpPr>
          <p:cNvPr id="22" name="Text 20"/>
          <p:cNvSpPr/>
          <p:nvPr/>
        </p:nvSpPr>
        <p:spPr>
          <a:xfrm>
            <a:off x="7415784" y="2788920"/>
            <a:ext cx="1847088" cy="365760"/>
          </a:xfrm>
          <a:prstGeom prst="rect">
            <a:avLst/>
          </a:prstGeom>
          <a:noFill/>
        </p:spPr>
        <p:txBody>
          <a:bodyPr wrap="square" rtlCol="0" anchor="ctr"/>
          <a:lstStyle/>
          <a:p>
            <a:pPr marL="0" indent="0" algn="ctr">
              <a:buNone/>
            </a:pPr>
            <a:r>
              <a:rPr lang="en-US" sz="1500" b="1" dirty="0">
                <a:solidFill>
                  <a:srgbClr val="0B1F2A"/>
                </a:solidFill>
                <a:latin typeface="Cambria" panose="02040503050406030204" pitchFamily="34" charset="0"/>
                <a:ea typeface="Cambria" panose="02040503050406030204" pitchFamily="34" charset="-122"/>
                <a:cs typeface="Cambria" panose="02040503050406030204" pitchFamily="34" charset="-120"/>
              </a:rPr>
              <a:t>Patient</a:t>
            </a:r>
            <a:endParaRPr lang="en-US" sz="1500" dirty="0"/>
          </a:p>
        </p:txBody>
      </p:sp>
      <p:sp>
        <p:nvSpPr>
          <p:cNvPr id="23" name="Text 21"/>
          <p:cNvSpPr/>
          <p:nvPr/>
        </p:nvSpPr>
        <p:spPr>
          <a:xfrm>
            <a:off x="7507224" y="3200400"/>
            <a:ext cx="1664208" cy="2377440"/>
          </a:xfrm>
          <a:prstGeom prst="rect">
            <a:avLst/>
          </a:prstGeom>
          <a:noFill/>
        </p:spPr>
        <p:txBody>
          <a:bodyPr wrap="square" rtlCol="0" anchor="t"/>
          <a:lstStyle/>
          <a:p>
            <a:pPr marL="0" indent="0" algn="ctr">
              <a:lnSpc>
                <a:spcPts val="1500"/>
              </a:lnSpc>
              <a:buNone/>
            </a:pPr>
            <a:r>
              <a:rPr lang="en-US" sz="1100" dirty="0">
                <a:solidFill>
                  <a:srgbClr val="5C7078"/>
                </a:solidFill>
                <a:latin typeface="Calibri" panose="020F0502020204030204" pitchFamily="34" charset="0"/>
                <a:ea typeface="Calibri" panose="020F0502020204030204" pitchFamily="34" charset="-122"/>
                <a:cs typeface="Calibri" panose="020F0502020204030204" pitchFamily="34" charset="-120"/>
              </a:rPr>
              <a:t>View reports, chat with AI assistant, upload reports, raise complaints about doctors</a:t>
            </a:r>
            <a:endParaRPr lang="en-US" sz="1100" dirty="0"/>
          </a:p>
        </p:txBody>
      </p:sp>
      <p:sp>
        <p:nvSpPr>
          <p:cNvPr id="24" name="Shape 22"/>
          <p:cNvSpPr/>
          <p:nvPr/>
        </p:nvSpPr>
        <p:spPr>
          <a:xfrm>
            <a:off x="9582912" y="1737360"/>
            <a:ext cx="2029968" cy="4023360"/>
          </a:xfrm>
          <a:prstGeom prst="roundRect">
            <a:avLst>
              <a:gd name="adj" fmla="val 3604"/>
            </a:avLst>
          </a:prstGeom>
          <a:solidFill>
            <a:srgbClr val="F4F9F8"/>
          </a:solidFill>
          <a:ln w="19050">
            <a:solidFill>
              <a:srgbClr val="046670"/>
            </a:solidFill>
            <a:prstDash val="solid"/>
          </a:ln>
        </p:spPr>
      </p:sp>
      <p:sp>
        <p:nvSpPr>
          <p:cNvPr id="25" name="Shape 23"/>
          <p:cNvSpPr/>
          <p:nvPr/>
        </p:nvSpPr>
        <p:spPr>
          <a:xfrm>
            <a:off x="10277856" y="2011680"/>
            <a:ext cx="640080" cy="640080"/>
          </a:xfrm>
          <a:prstGeom prst="ellipse">
            <a:avLst/>
          </a:prstGeom>
          <a:solidFill>
            <a:srgbClr val="046670"/>
          </a:solidFill>
        </p:spPr>
      </p:sp>
      <p:sp>
        <p:nvSpPr>
          <p:cNvPr id="26" name="Text 24"/>
          <p:cNvSpPr/>
          <p:nvPr/>
        </p:nvSpPr>
        <p:spPr>
          <a:xfrm>
            <a:off x="10277856" y="2011680"/>
            <a:ext cx="640080" cy="640080"/>
          </a:xfrm>
          <a:prstGeom prst="rect">
            <a:avLst/>
          </a:prstGeom>
          <a:noFill/>
        </p:spPr>
        <p:txBody>
          <a:bodyPr wrap="square" rtlCol="0" anchor="ctr"/>
          <a:lstStyle/>
          <a:p>
            <a:pPr marL="0" indent="0" algn="ctr">
              <a:buNone/>
            </a:pPr>
            <a:r>
              <a:rPr lang="en-US" sz="2200" b="1" dirty="0">
                <a:solidFill>
                  <a:srgbClr val="FFFFFF"/>
                </a:solidFill>
                <a:latin typeface="Cambria" panose="02040503050406030204" pitchFamily="34" charset="0"/>
                <a:ea typeface="Cambria" panose="02040503050406030204" pitchFamily="34" charset="-122"/>
                <a:cs typeface="Cambria" panose="02040503050406030204" pitchFamily="34" charset="-120"/>
              </a:rPr>
              <a:t>P</a:t>
            </a:r>
            <a:endParaRPr lang="en-US" sz="2200" dirty="0"/>
          </a:p>
        </p:txBody>
      </p:sp>
      <p:sp>
        <p:nvSpPr>
          <p:cNvPr id="27" name="Text 25"/>
          <p:cNvSpPr/>
          <p:nvPr/>
        </p:nvSpPr>
        <p:spPr>
          <a:xfrm>
            <a:off x="9674352" y="2788920"/>
            <a:ext cx="1847088" cy="365760"/>
          </a:xfrm>
          <a:prstGeom prst="rect">
            <a:avLst/>
          </a:prstGeom>
          <a:noFill/>
        </p:spPr>
        <p:txBody>
          <a:bodyPr wrap="square" rtlCol="0" anchor="ctr"/>
          <a:lstStyle/>
          <a:p>
            <a:pPr marL="0" indent="0" algn="ctr">
              <a:buNone/>
            </a:pPr>
            <a:r>
              <a:rPr lang="en-US" sz="1500" b="1" dirty="0">
                <a:solidFill>
                  <a:srgbClr val="0B1F2A"/>
                </a:solidFill>
                <a:latin typeface="Cambria" panose="02040503050406030204" pitchFamily="34" charset="0"/>
                <a:ea typeface="Cambria" panose="02040503050406030204" pitchFamily="34" charset="-122"/>
                <a:cs typeface="Cambria" panose="02040503050406030204" pitchFamily="34" charset="-120"/>
              </a:rPr>
              <a:t>Pharmacist</a:t>
            </a:r>
            <a:endParaRPr lang="en-US" sz="1500" dirty="0"/>
          </a:p>
        </p:txBody>
      </p:sp>
      <p:sp>
        <p:nvSpPr>
          <p:cNvPr id="28" name="Text 26"/>
          <p:cNvSpPr/>
          <p:nvPr/>
        </p:nvSpPr>
        <p:spPr>
          <a:xfrm>
            <a:off x="9765792" y="3200400"/>
            <a:ext cx="1664208" cy="2377440"/>
          </a:xfrm>
          <a:prstGeom prst="rect">
            <a:avLst/>
          </a:prstGeom>
          <a:noFill/>
        </p:spPr>
        <p:txBody>
          <a:bodyPr wrap="square" rtlCol="0" anchor="t"/>
          <a:lstStyle/>
          <a:p>
            <a:pPr marL="0" indent="0" algn="ctr">
              <a:lnSpc>
                <a:spcPts val="1500"/>
              </a:lnSpc>
              <a:buNone/>
            </a:pPr>
            <a:r>
              <a:rPr lang="en-US" sz="1100" dirty="0">
                <a:solidFill>
                  <a:srgbClr val="5C7078"/>
                </a:solidFill>
                <a:latin typeface="Calibri" panose="020F0502020204030204" pitchFamily="34" charset="0"/>
                <a:ea typeface="Calibri" panose="020F0502020204030204" pitchFamily="34" charset="-122"/>
                <a:cs typeface="Calibri" panose="020F0502020204030204" pitchFamily="34" charset="-120"/>
              </a:rPr>
              <a:t>Dispense medicines against verified prescriptions &amp; mark as dispensed</a:t>
            </a:r>
            <a:endParaRPr lang="en-US" sz="1100" dirty="0"/>
          </a:p>
        </p:txBody>
      </p:sp>
      <p:sp>
        <p:nvSpPr>
          <p:cNvPr id="29" name="Text 27"/>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5C7078"/>
                </a:solidFill>
                <a:latin typeface="Calibri" panose="020F0502020204030204" pitchFamily="34" charset="0"/>
                <a:ea typeface="Calibri" panose="020F0502020204030204" pitchFamily="34" charset="-122"/>
                <a:cs typeface="Calibri" panose="020F0502020204030204" pitchFamily="34" charset="-120"/>
              </a:rPr>
              <a:t>MEDINEX — Mini Project 2 — Review 1</a:t>
            </a:r>
            <a:endParaRPr lang="en-US" sz="900" dirty="0"/>
          </a:p>
        </p:txBody>
      </p:sp>
      <p:sp>
        <p:nvSpPr>
          <p:cNvPr id="30" name="Text 28"/>
          <p:cNvSpPr/>
          <p:nvPr/>
        </p:nvSpPr>
        <p:spPr>
          <a:xfrm>
            <a:off x="11521440" y="6537960"/>
            <a:ext cx="457200" cy="274320"/>
          </a:xfrm>
          <a:prstGeom prst="rect">
            <a:avLst/>
          </a:prstGeom>
          <a:noFill/>
        </p:spPr>
        <p:txBody>
          <a:bodyPr wrap="square" rtlCol="0" anchor="ctr"/>
          <a:lstStyle/>
          <a:p>
            <a:pPr marL="0" indent="0" algn="r">
              <a:buNone/>
            </a:pPr>
            <a:r>
              <a:rPr lang="en-US" sz="900" dirty="0">
                <a:solidFill>
                  <a:srgbClr val="5C7078"/>
                </a:solidFill>
                <a:latin typeface="Calibri" panose="020F0502020204030204" pitchFamily="34" charset="0"/>
                <a:ea typeface="Calibri" panose="020F0502020204030204" pitchFamily="34" charset="-122"/>
                <a:cs typeface="Calibri" panose="020F0502020204030204"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3"/>
          <p:cNvSpPr/>
          <p:nvPr/>
        </p:nvSpPr>
        <p:spPr>
          <a:xfrm>
            <a:off x="548640" y="320040"/>
            <a:ext cx="7315200" cy="320040"/>
          </a:xfrm>
          <a:prstGeom prst="rect">
            <a:avLst/>
          </a:prstGeom>
          <a:noFill/>
        </p:spPr>
        <p:txBody>
          <a:bodyPr wrap="square" rtlCol="0" anchor="ctr"/>
          <a:lstStyle/>
          <a:p>
            <a:pPr marL="0" indent="0" algn="l">
              <a:buNone/>
            </a:pPr>
            <a:r>
              <a:rPr lang="en-US" sz="1300" b="1" spc="200" dirty="0">
                <a:solidFill>
                  <a:srgbClr val="00A896"/>
                </a:solidFill>
                <a:latin typeface="Calibri" panose="020F0502020204030204" pitchFamily="34" charset="0"/>
                <a:ea typeface="Calibri" panose="020F0502020204030204" pitchFamily="34" charset="-122"/>
                <a:cs typeface="Calibri" panose="020F0502020204030204" pitchFamily="34" charset="-120"/>
              </a:rPr>
              <a:t>UML DIAGRAM · 1 OF 2</a:t>
            </a:r>
            <a:endParaRPr lang="en-US" sz="1300" dirty="0"/>
          </a:p>
        </p:txBody>
      </p:sp>
      <p:sp>
        <p:nvSpPr>
          <p:cNvPr id="4" name="Text 4"/>
          <p:cNvSpPr/>
          <p:nvPr/>
        </p:nvSpPr>
        <p:spPr>
          <a:xfrm>
            <a:off x="548640" y="594360"/>
            <a:ext cx="10789920" cy="640080"/>
          </a:xfrm>
          <a:prstGeom prst="rect">
            <a:avLst/>
          </a:prstGeom>
          <a:noFill/>
        </p:spPr>
        <p:txBody>
          <a:bodyPr wrap="square" rtlCol="0" anchor="ctr"/>
          <a:lstStyle/>
          <a:p>
            <a:pPr marL="0" indent="0" algn="l">
              <a:buNone/>
            </a:pPr>
            <a:r>
              <a:rPr lang="en-US" sz="3000" b="1" dirty="0">
                <a:solidFill>
                  <a:srgbClr val="0B1F2A"/>
                </a:solidFill>
                <a:latin typeface="Cambria" panose="02040503050406030204" pitchFamily="34" charset="0"/>
                <a:ea typeface="Cambria" panose="02040503050406030204" pitchFamily="34" charset="-122"/>
                <a:cs typeface="Cambria" panose="02040503050406030204" pitchFamily="34" charset="-120"/>
              </a:rPr>
              <a:t>Use Case Diagram</a:t>
            </a:r>
            <a:endParaRPr lang="en-US" sz="3000" dirty="0"/>
          </a:p>
        </p:txBody>
      </p:sp>
      <p:sp>
        <p:nvSpPr>
          <p:cNvPr id="5" name="Shape 5"/>
          <p:cNvSpPr/>
          <p:nvPr/>
        </p:nvSpPr>
        <p:spPr>
          <a:xfrm>
            <a:off x="1847088" y="1691640"/>
            <a:ext cx="7872984" cy="4526280"/>
          </a:xfrm>
          <a:prstGeom prst="rect">
            <a:avLst/>
          </a:prstGeom>
          <a:solidFill>
            <a:srgbClr val="F4F9F8"/>
          </a:solidFill>
          <a:ln w="19050">
            <a:solidFill>
              <a:srgbClr val="028090"/>
            </a:solidFill>
            <a:prstDash val="solid"/>
          </a:ln>
        </p:spPr>
      </p:sp>
      <p:sp>
        <p:nvSpPr>
          <p:cNvPr id="6" name="Text 6"/>
          <p:cNvSpPr/>
          <p:nvPr/>
        </p:nvSpPr>
        <p:spPr>
          <a:xfrm>
            <a:off x="1847088" y="1783080"/>
            <a:ext cx="7872984" cy="274320"/>
          </a:xfrm>
          <a:prstGeom prst="rect">
            <a:avLst/>
          </a:prstGeom>
          <a:noFill/>
        </p:spPr>
        <p:txBody>
          <a:bodyPr wrap="square" rtlCol="0" anchor="ctr"/>
          <a:lstStyle/>
          <a:p>
            <a:pPr marL="0" indent="0" algn="ctr">
              <a:buNone/>
            </a:pPr>
            <a:r>
              <a:rPr lang="en-US" sz="1200" b="1" dirty="0">
                <a:solidFill>
                  <a:srgbClr val="028090"/>
                </a:solidFill>
                <a:latin typeface="Cambria" panose="02040503050406030204" pitchFamily="34" charset="0"/>
                <a:ea typeface="Cambria" panose="02040503050406030204" pitchFamily="34" charset="-122"/>
                <a:cs typeface="Cambria" panose="02040503050406030204" pitchFamily="34" charset="-120"/>
              </a:rPr>
              <a:t>MEDINEX</a:t>
            </a:r>
            <a:endParaRPr lang="en-US" sz="1200" dirty="0"/>
          </a:p>
        </p:txBody>
      </p:sp>
      <p:sp>
        <p:nvSpPr>
          <p:cNvPr id="7" name="Shape 7"/>
          <p:cNvSpPr/>
          <p:nvPr/>
        </p:nvSpPr>
        <p:spPr>
          <a:xfrm>
            <a:off x="2029968" y="2148840"/>
            <a:ext cx="2788920" cy="1188720"/>
          </a:xfrm>
          <a:prstGeom prst="ellipse">
            <a:avLst/>
          </a:prstGeom>
          <a:solidFill>
            <a:srgbClr val="FFFFFF"/>
          </a:solidFill>
          <a:ln w="19050">
            <a:solidFill>
              <a:srgbClr val="00A896"/>
            </a:solidFill>
            <a:prstDash val="solid"/>
          </a:ln>
        </p:spPr>
      </p:sp>
      <p:sp>
        <p:nvSpPr>
          <p:cNvPr id="8" name="Text 8"/>
          <p:cNvSpPr/>
          <p:nvPr/>
        </p:nvSpPr>
        <p:spPr>
          <a:xfrm>
            <a:off x="2029968" y="2148840"/>
            <a:ext cx="2788920" cy="1188720"/>
          </a:xfrm>
          <a:prstGeom prst="rect">
            <a:avLst/>
          </a:prstGeom>
          <a:noFill/>
        </p:spPr>
        <p:txBody>
          <a:bodyPr wrap="square" rtlCol="0" anchor="ctr"/>
          <a:lstStyle/>
          <a:p>
            <a:pPr marL="0" indent="0" algn="ctr">
              <a:buNone/>
            </a:pPr>
            <a:r>
              <a:rPr lang="en-US" sz="1100" dirty="0">
                <a:solidFill>
                  <a:srgbClr val="1A2B32"/>
                </a:solidFill>
                <a:latin typeface="Calibri" panose="020F0502020204030204" pitchFamily="34" charset="0"/>
                <a:ea typeface="Calibri" panose="020F0502020204030204" pitchFamily="34" charset="-122"/>
                <a:cs typeface="Calibri" panose="020F0502020204030204" pitchFamily="34" charset="-120"/>
              </a:rPr>
              <a:t>Approve</a:t>
            </a:r>
            <a:endParaRPr lang="en-US" sz="1100" dirty="0"/>
          </a:p>
          <a:p>
            <a:pPr marL="0" indent="0" algn="ctr">
              <a:buNone/>
            </a:pPr>
            <a:r>
              <a:rPr lang="en-US" sz="1100" dirty="0">
                <a:solidFill>
                  <a:srgbClr val="1A2B32"/>
                </a:solidFill>
                <a:latin typeface="Calibri" panose="020F0502020204030204" pitchFamily="34" charset="0"/>
                <a:ea typeface="Calibri" panose="020F0502020204030204" pitchFamily="34" charset="-122"/>
                <a:cs typeface="Calibri" panose="020F0502020204030204" pitchFamily="34" charset="-120"/>
              </a:rPr>
              <a:t>Hospitals</a:t>
            </a:r>
            <a:endParaRPr lang="en-US" sz="1100" dirty="0"/>
          </a:p>
        </p:txBody>
      </p:sp>
      <p:sp>
        <p:nvSpPr>
          <p:cNvPr id="9" name="Shape 9"/>
          <p:cNvSpPr/>
          <p:nvPr/>
        </p:nvSpPr>
        <p:spPr>
          <a:xfrm>
            <a:off x="5367528" y="2148840"/>
            <a:ext cx="2788920" cy="1188720"/>
          </a:xfrm>
          <a:prstGeom prst="ellipse">
            <a:avLst/>
          </a:prstGeom>
          <a:solidFill>
            <a:srgbClr val="FFFFFF"/>
          </a:solidFill>
          <a:ln w="19050">
            <a:solidFill>
              <a:srgbClr val="00A896"/>
            </a:solidFill>
            <a:prstDash val="solid"/>
          </a:ln>
        </p:spPr>
      </p:sp>
      <p:sp>
        <p:nvSpPr>
          <p:cNvPr id="10" name="Text 10"/>
          <p:cNvSpPr/>
          <p:nvPr/>
        </p:nvSpPr>
        <p:spPr>
          <a:xfrm>
            <a:off x="5367528" y="2148840"/>
            <a:ext cx="2788920" cy="1188720"/>
          </a:xfrm>
          <a:prstGeom prst="rect">
            <a:avLst/>
          </a:prstGeom>
          <a:noFill/>
        </p:spPr>
        <p:txBody>
          <a:bodyPr wrap="square" rtlCol="0" anchor="ctr"/>
          <a:lstStyle/>
          <a:p>
            <a:pPr marL="0" indent="0" algn="ctr">
              <a:buNone/>
            </a:pPr>
            <a:r>
              <a:rPr lang="en-US" sz="1100" dirty="0">
                <a:solidFill>
                  <a:srgbClr val="1A2B32"/>
                </a:solidFill>
                <a:latin typeface="Calibri" panose="020F0502020204030204" pitchFamily="34" charset="0"/>
                <a:ea typeface="Calibri" panose="020F0502020204030204" pitchFamily="34" charset="-122"/>
                <a:cs typeface="Calibri" panose="020F0502020204030204" pitchFamily="34" charset="-120"/>
              </a:rPr>
              <a:t>View &amp; Edit</a:t>
            </a:r>
            <a:endParaRPr lang="en-US" sz="1100" dirty="0"/>
          </a:p>
          <a:p>
            <a:pPr marL="0" indent="0" algn="ctr">
              <a:buNone/>
            </a:pPr>
            <a:r>
              <a:rPr lang="en-US" sz="1100" dirty="0">
                <a:solidFill>
                  <a:srgbClr val="1A2B32"/>
                </a:solidFill>
                <a:latin typeface="Calibri" panose="020F0502020204030204" pitchFamily="34" charset="0"/>
                <a:ea typeface="Calibri" panose="020F0502020204030204" pitchFamily="34" charset="-122"/>
                <a:cs typeface="Calibri" panose="020F0502020204030204" pitchFamily="34" charset="-120"/>
              </a:rPr>
              <a:t>Prescriptions</a:t>
            </a:r>
            <a:endParaRPr lang="en-US" sz="1100" dirty="0"/>
          </a:p>
        </p:txBody>
      </p:sp>
      <p:sp>
        <p:nvSpPr>
          <p:cNvPr id="11" name="Shape 11"/>
          <p:cNvSpPr/>
          <p:nvPr/>
        </p:nvSpPr>
        <p:spPr>
          <a:xfrm>
            <a:off x="8522208" y="2148840"/>
            <a:ext cx="2788920" cy="1188720"/>
          </a:xfrm>
          <a:prstGeom prst="ellipse">
            <a:avLst/>
          </a:prstGeom>
          <a:solidFill>
            <a:srgbClr val="FFFFFF"/>
          </a:solidFill>
          <a:ln w="19050">
            <a:solidFill>
              <a:srgbClr val="00A896"/>
            </a:solidFill>
            <a:prstDash val="solid"/>
          </a:ln>
        </p:spPr>
      </p:sp>
      <p:sp>
        <p:nvSpPr>
          <p:cNvPr id="12" name="Text 12"/>
          <p:cNvSpPr/>
          <p:nvPr/>
        </p:nvSpPr>
        <p:spPr>
          <a:xfrm>
            <a:off x="8522208" y="2148840"/>
            <a:ext cx="2788920" cy="1188720"/>
          </a:xfrm>
          <a:prstGeom prst="rect">
            <a:avLst/>
          </a:prstGeom>
          <a:noFill/>
        </p:spPr>
        <p:txBody>
          <a:bodyPr wrap="square" rtlCol="0" anchor="ctr"/>
          <a:lstStyle/>
          <a:p>
            <a:pPr marL="0" indent="0" algn="ctr">
              <a:buNone/>
            </a:pPr>
            <a:r>
              <a:rPr lang="en-US" sz="1100" dirty="0">
                <a:solidFill>
                  <a:srgbClr val="1A2B32"/>
                </a:solidFill>
                <a:latin typeface="Calibri" panose="020F0502020204030204" pitchFamily="34" charset="0"/>
                <a:ea typeface="Calibri" panose="020F0502020204030204" pitchFamily="34" charset="-122"/>
                <a:cs typeface="Calibri" panose="020F0502020204030204" pitchFamily="34" charset="-120"/>
              </a:rPr>
              <a:t>Add / Remove</a:t>
            </a:r>
            <a:endParaRPr lang="en-US" sz="1100" dirty="0"/>
          </a:p>
          <a:p>
            <a:pPr marL="0" indent="0" algn="ctr">
              <a:buNone/>
            </a:pPr>
            <a:r>
              <a:rPr lang="en-US" sz="1100" dirty="0">
                <a:solidFill>
                  <a:srgbClr val="1A2B32"/>
                </a:solidFill>
                <a:latin typeface="Calibri" panose="020F0502020204030204" pitchFamily="34" charset="0"/>
                <a:ea typeface="Calibri" panose="020F0502020204030204" pitchFamily="34" charset="-122"/>
                <a:cs typeface="Calibri" panose="020F0502020204030204" pitchFamily="34" charset="-120"/>
              </a:rPr>
              <a:t>Doctors</a:t>
            </a:r>
            <a:endParaRPr lang="en-US" sz="1100" dirty="0"/>
          </a:p>
        </p:txBody>
      </p:sp>
      <p:sp>
        <p:nvSpPr>
          <p:cNvPr id="13" name="Shape 13"/>
          <p:cNvSpPr/>
          <p:nvPr/>
        </p:nvSpPr>
        <p:spPr>
          <a:xfrm>
            <a:off x="2029968" y="3611880"/>
            <a:ext cx="2788920" cy="1188720"/>
          </a:xfrm>
          <a:prstGeom prst="ellipse">
            <a:avLst/>
          </a:prstGeom>
          <a:solidFill>
            <a:srgbClr val="FFFFFF"/>
          </a:solidFill>
          <a:ln w="19050">
            <a:solidFill>
              <a:srgbClr val="00A896"/>
            </a:solidFill>
            <a:prstDash val="solid"/>
          </a:ln>
        </p:spPr>
      </p:sp>
      <p:sp>
        <p:nvSpPr>
          <p:cNvPr id="14" name="Text 14"/>
          <p:cNvSpPr/>
          <p:nvPr/>
        </p:nvSpPr>
        <p:spPr>
          <a:xfrm>
            <a:off x="2029968" y="3611880"/>
            <a:ext cx="2788920" cy="1188720"/>
          </a:xfrm>
          <a:prstGeom prst="rect">
            <a:avLst/>
          </a:prstGeom>
          <a:noFill/>
        </p:spPr>
        <p:txBody>
          <a:bodyPr wrap="square" rtlCol="0" anchor="ctr"/>
          <a:lstStyle/>
          <a:p>
            <a:pPr marL="0" indent="0" algn="ctr">
              <a:buNone/>
            </a:pPr>
            <a:r>
              <a:rPr lang="en-US" sz="1100" dirty="0">
                <a:solidFill>
                  <a:srgbClr val="1A2B32"/>
                </a:solidFill>
                <a:latin typeface="Calibri" panose="020F0502020204030204" pitchFamily="34" charset="0"/>
                <a:ea typeface="Calibri" panose="020F0502020204030204" pitchFamily="34" charset="-122"/>
                <a:cs typeface="Calibri" panose="020F0502020204030204" pitchFamily="34" charset="-120"/>
              </a:rPr>
              <a:t>View Health</a:t>
            </a:r>
            <a:endParaRPr lang="en-US" sz="1100" dirty="0"/>
          </a:p>
          <a:p>
            <a:pPr marL="0" indent="0" algn="ctr">
              <a:buNone/>
            </a:pPr>
            <a:r>
              <a:rPr lang="en-US" sz="1100" dirty="0">
                <a:solidFill>
                  <a:srgbClr val="1A2B32"/>
                </a:solidFill>
                <a:latin typeface="Calibri" panose="020F0502020204030204" pitchFamily="34" charset="0"/>
                <a:ea typeface="Calibri" panose="020F0502020204030204" pitchFamily="34" charset="-122"/>
                <a:cs typeface="Calibri" panose="020F0502020204030204" pitchFamily="34" charset="-120"/>
              </a:rPr>
              <a:t>Reports</a:t>
            </a:r>
            <a:endParaRPr lang="en-US" sz="1100" dirty="0"/>
          </a:p>
        </p:txBody>
      </p:sp>
      <p:sp>
        <p:nvSpPr>
          <p:cNvPr id="15" name="Shape 15"/>
          <p:cNvSpPr/>
          <p:nvPr/>
        </p:nvSpPr>
        <p:spPr>
          <a:xfrm>
            <a:off x="5367528" y="3611880"/>
            <a:ext cx="2788920" cy="1188720"/>
          </a:xfrm>
          <a:prstGeom prst="ellipse">
            <a:avLst/>
          </a:prstGeom>
          <a:solidFill>
            <a:srgbClr val="FFFFFF"/>
          </a:solidFill>
          <a:ln w="19050">
            <a:solidFill>
              <a:srgbClr val="00A896"/>
            </a:solidFill>
            <a:prstDash val="solid"/>
          </a:ln>
        </p:spPr>
      </p:sp>
      <p:sp>
        <p:nvSpPr>
          <p:cNvPr id="16" name="Text 16"/>
          <p:cNvSpPr/>
          <p:nvPr/>
        </p:nvSpPr>
        <p:spPr>
          <a:xfrm>
            <a:off x="5367528" y="3611880"/>
            <a:ext cx="2788920" cy="1188720"/>
          </a:xfrm>
          <a:prstGeom prst="rect">
            <a:avLst/>
          </a:prstGeom>
          <a:noFill/>
        </p:spPr>
        <p:txBody>
          <a:bodyPr wrap="square" rtlCol="0" anchor="ctr"/>
          <a:lstStyle/>
          <a:p>
            <a:pPr marL="0" indent="0" algn="ctr">
              <a:buNone/>
            </a:pPr>
            <a:r>
              <a:rPr lang="en-US" sz="1100" dirty="0">
                <a:solidFill>
                  <a:srgbClr val="1A2B32"/>
                </a:solidFill>
                <a:latin typeface="Calibri" panose="020F0502020204030204" pitchFamily="34" charset="0"/>
                <a:ea typeface="Calibri" panose="020F0502020204030204" pitchFamily="34" charset="-122"/>
                <a:cs typeface="Calibri" panose="020F0502020204030204" pitchFamily="34" charset="-120"/>
              </a:rPr>
              <a:t>Chat with AI</a:t>
            </a:r>
            <a:endParaRPr lang="en-US" sz="1100" dirty="0"/>
          </a:p>
          <a:p>
            <a:pPr marL="0" indent="0" algn="ctr">
              <a:buNone/>
            </a:pPr>
            <a:r>
              <a:rPr lang="en-US" sz="1100" dirty="0">
                <a:solidFill>
                  <a:srgbClr val="1A2B32"/>
                </a:solidFill>
                <a:latin typeface="Calibri" panose="020F0502020204030204" pitchFamily="34" charset="0"/>
                <a:ea typeface="Calibri" panose="020F0502020204030204" pitchFamily="34" charset="-122"/>
                <a:cs typeface="Calibri" panose="020F0502020204030204" pitchFamily="34" charset="-120"/>
              </a:rPr>
              <a:t>Assistant</a:t>
            </a:r>
            <a:endParaRPr lang="en-US" sz="1100" dirty="0"/>
          </a:p>
        </p:txBody>
      </p:sp>
      <p:sp>
        <p:nvSpPr>
          <p:cNvPr id="17" name="Shape 17"/>
          <p:cNvSpPr/>
          <p:nvPr/>
        </p:nvSpPr>
        <p:spPr>
          <a:xfrm>
            <a:off x="8522208" y="3611880"/>
            <a:ext cx="2788920" cy="1188720"/>
          </a:xfrm>
          <a:prstGeom prst="ellipse">
            <a:avLst/>
          </a:prstGeom>
          <a:solidFill>
            <a:srgbClr val="FFFFFF"/>
          </a:solidFill>
          <a:ln w="19050">
            <a:solidFill>
              <a:srgbClr val="00A896"/>
            </a:solidFill>
            <a:prstDash val="solid"/>
          </a:ln>
        </p:spPr>
      </p:sp>
      <p:sp>
        <p:nvSpPr>
          <p:cNvPr id="18" name="Text 18"/>
          <p:cNvSpPr/>
          <p:nvPr/>
        </p:nvSpPr>
        <p:spPr>
          <a:xfrm>
            <a:off x="8522208" y="3611880"/>
            <a:ext cx="2788920" cy="1188720"/>
          </a:xfrm>
          <a:prstGeom prst="rect">
            <a:avLst/>
          </a:prstGeom>
          <a:noFill/>
        </p:spPr>
        <p:txBody>
          <a:bodyPr wrap="square" rtlCol="0" anchor="ctr"/>
          <a:lstStyle/>
          <a:p>
            <a:pPr marL="0" indent="0" algn="ctr">
              <a:buNone/>
            </a:pPr>
            <a:r>
              <a:rPr lang="en-US" sz="1100" dirty="0">
                <a:solidFill>
                  <a:srgbClr val="1A2B32"/>
                </a:solidFill>
                <a:latin typeface="Calibri" panose="020F0502020204030204" pitchFamily="34" charset="0"/>
                <a:ea typeface="Calibri" panose="020F0502020204030204" pitchFamily="34" charset="-122"/>
                <a:cs typeface="Calibri" panose="020F0502020204030204" pitchFamily="34" charset="-120"/>
              </a:rPr>
              <a:t>Manage Doctor</a:t>
            </a:r>
            <a:endParaRPr lang="en-US" sz="1100" dirty="0"/>
          </a:p>
          <a:p>
            <a:pPr marL="0" indent="0" algn="ctr">
              <a:buNone/>
            </a:pPr>
            <a:r>
              <a:rPr lang="en-US" sz="1100" dirty="0">
                <a:solidFill>
                  <a:srgbClr val="1A2B32"/>
                </a:solidFill>
                <a:latin typeface="Calibri" panose="020F0502020204030204" pitchFamily="34" charset="0"/>
                <a:ea typeface="Calibri" panose="020F0502020204030204" pitchFamily="34" charset="-122"/>
                <a:cs typeface="Calibri" panose="020F0502020204030204" pitchFamily="34" charset="-120"/>
              </a:rPr>
              <a:t>Complaints</a:t>
            </a:r>
            <a:endParaRPr lang="en-US" sz="1100" dirty="0"/>
          </a:p>
        </p:txBody>
      </p:sp>
      <p:sp>
        <p:nvSpPr>
          <p:cNvPr id="19" name="Shape 19"/>
          <p:cNvSpPr/>
          <p:nvPr/>
        </p:nvSpPr>
        <p:spPr>
          <a:xfrm>
            <a:off x="2029968" y="5074920"/>
            <a:ext cx="2788920" cy="1188720"/>
          </a:xfrm>
          <a:prstGeom prst="ellipse">
            <a:avLst/>
          </a:prstGeom>
          <a:solidFill>
            <a:srgbClr val="FFFFFF"/>
          </a:solidFill>
          <a:ln w="19050">
            <a:solidFill>
              <a:srgbClr val="00A896"/>
            </a:solidFill>
            <a:prstDash val="solid"/>
          </a:ln>
        </p:spPr>
      </p:sp>
      <p:sp>
        <p:nvSpPr>
          <p:cNvPr id="20" name="Text 20"/>
          <p:cNvSpPr/>
          <p:nvPr/>
        </p:nvSpPr>
        <p:spPr>
          <a:xfrm>
            <a:off x="2029968" y="5074920"/>
            <a:ext cx="2788920" cy="1188720"/>
          </a:xfrm>
          <a:prstGeom prst="rect">
            <a:avLst/>
          </a:prstGeom>
          <a:noFill/>
        </p:spPr>
        <p:txBody>
          <a:bodyPr wrap="square" rtlCol="0" anchor="ctr"/>
          <a:lstStyle/>
          <a:p>
            <a:pPr marL="0" indent="0" algn="ctr">
              <a:buNone/>
            </a:pPr>
            <a:r>
              <a:rPr lang="en-US" sz="1100" dirty="0">
                <a:solidFill>
                  <a:srgbClr val="1A2B32"/>
                </a:solidFill>
                <a:latin typeface="Calibri" panose="020F0502020204030204" pitchFamily="34" charset="0"/>
                <a:ea typeface="Calibri" panose="020F0502020204030204" pitchFamily="34" charset="-122"/>
                <a:cs typeface="Calibri" panose="020F0502020204030204" pitchFamily="34" charset="-120"/>
              </a:rPr>
              <a:t>Raise Complaint</a:t>
            </a:r>
            <a:endParaRPr lang="en-US" sz="1100" dirty="0"/>
          </a:p>
          <a:p>
            <a:pPr marL="0" indent="0" algn="ctr">
              <a:buNone/>
            </a:pPr>
            <a:r>
              <a:rPr lang="en-US" sz="1100" dirty="0">
                <a:solidFill>
                  <a:srgbClr val="1A2B32"/>
                </a:solidFill>
                <a:latin typeface="Calibri" panose="020F0502020204030204" pitchFamily="34" charset="0"/>
                <a:ea typeface="Calibri" panose="020F0502020204030204" pitchFamily="34" charset="-122"/>
                <a:cs typeface="Calibri" panose="020F0502020204030204" pitchFamily="34" charset="-120"/>
              </a:rPr>
              <a:t>on Doctor</a:t>
            </a:r>
            <a:endParaRPr lang="en-US" sz="1100" dirty="0"/>
          </a:p>
        </p:txBody>
      </p:sp>
      <p:sp>
        <p:nvSpPr>
          <p:cNvPr id="21" name="Shape 21"/>
          <p:cNvSpPr/>
          <p:nvPr/>
        </p:nvSpPr>
        <p:spPr>
          <a:xfrm>
            <a:off x="5367528" y="5074920"/>
            <a:ext cx="2788920" cy="1188720"/>
          </a:xfrm>
          <a:prstGeom prst="ellipse">
            <a:avLst/>
          </a:prstGeom>
          <a:solidFill>
            <a:srgbClr val="FFFFFF"/>
          </a:solidFill>
          <a:ln w="19050">
            <a:solidFill>
              <a:srgbClr val="00A896"/>
            </a:solidFill>
            <a:prstDash val="solid"/>
          </a:ln>
        </p:spPr>
      </p:sp>
      <p:sp>
        <p:nvSpPr>
          <p:cNvPr id="22" name="Text 22"/>
          <p:cNvSpPr/>
          <p:nvPr/>
        </p:nvSpPr>
        <p:spPr>
          <a:xfrm>
            <a:off x="5367528" y="5074920"/>
            <a:ext cx="2788920" cy="1188720"/>
          </a:xfrm>
          <a:prstGeom prst="rect">
            <a:avLst/>
          </a:prstGeom>
          <a:noFill/>
        </p:spPr>
        <p:txBody>
          <a:bodyPr wrap="square" rtlCol="0" anchor="ctr"/>
          <a:lstStyle/>
          <a:p>
            <a:pPr marL="0" indent="0" algn="ctr">
              <a:buNone/>
            </a:pPr>
            <a:r>
              <a:rPr lang="en-US" sz="1100" dirty="0">
                <a:solidFill>
                  <a:srgbClr val="1A2B32"/>
                </a:solidFill>
                <a:latin typeface="Calibri" panose="020F0502020204030204" pitchFamily="34" charset="0"/>
                <a:ea typeface="Calibri" panose="020F0502020204030204" pitchFamily="34" charset="-122"/>
                <a:cs typeface="Calibri" panose="020F0502020204030204" pitchFamily="34" charset="-120"/>
              </a:rPr>
              <a:t>Upload Lab</a:t>
            </a:r>
            <a:endParaRPr lang="en-US" sz="1100" dirty="0"/>
          </a:p>
          <a:p>
            <a:pPr marL="0" indent="0" algn="ctr">
              <a:buNone/>
            </a:pPr>
            <a:r>
              <a:rPr lang="en-US" sz="1100" dirty="0">
                <a:solidFill>
                  <a:srgbClr val="1A2B32"/>
                </a:solidFill>
                <a:latin typeface="Calibri" panose="020F0502020204030204" pitchFamily="34" charset="0"/>
                <a:ea typeface="Calibri" panose="020F0502020204030204" pitchFamily="34" charset="-122"/>
                <a:cs typeface="Calibri" panose="020F0502020204030204" pitchFamily="34" charset="-120"/>
              </a:rPr>
              <a:t>Report</a:t>
            </a:r>
            <a:endParaRPr lang="en-US" sz="1100" dirty="0"/>
          </a:p>
        </p:txBody>
      </p:sp>
      <p:sp>
        <p:nvSpPr>
          <p:cNvPr id="23" name="Shape 23"/>
          <p:cNvSpPr/>
          <p:nvPr/>
        </p:nvSpPr>
        <p:spPr>
          <a:xfrm>
            <a:off x="8522208" y="5074920"/>
            <a:ext cx="2788920" cy="1188720"/>
          </a:xfrm>
          <a:prstGeom prst="ellipse">
            <a:avLst/>
          </a:prstGeom>
          <a:solidFill>
            <a:srgbClr val="FFFFFF"/>
          </a:solidFill>
          <a:ln w="19050">
            <a:solidFill>
              <a:srgbClr val="00A896"/>
            </a:solidFill>
            <a:prstDash val="solid"/>
          </a:ln>
        </p:spPr>
      </p:sp>
      <p:sp>
        <p:nvSpPr>
          <p:cNvPr id="24" name="Text 24"/>
          <p:cNvSpPr/>
          <p:nvPr/>
        </p:nvSpPr>
        <p:spPr>
          <a:xfrm>
            <a:off x="8522208" y="5074920"/>
            <a:ext cx="2788920" cy="1188720"/>
          </a:xfrm>
          <a:prstGeom prst="rect">
            <a:avLst/>
          </a:prstGeom>
          <a:noFill/>
        </p:spPr>
        <p:txBody>
          <a:bodyPr wrap="square" rtlCol="0" anchor="ctr"/>
          <a:lstStyle/>
          <a:p>
            <a:pPr marL="0" indent="0" algn="ctr">
              <a:buNone/>
            </a:pPr>
            <a:r>
              <a:rPr lang="en-US" sz="1100" dirty="0">
                <a:solidFill>
                  <a:srgbClr val="1A2B32"/>
                </a:solidFill>
                <a:latin typeface="Calibri" panose="020F0502020204030204" pitchFamily="34" charset="0"/>
                <a:ea typeface="Calibri" panose="020F0502020204030204" pitchFamily="34" charset="-122"/>
                <a:cs typeface="Calibri" panose="020F0502020204030204" pitchFamily="34" charset="-120"/>
              </a:rPr>
              <a:t>Dispense &amp;</a:t>
            </a:r>
            <a:endParaRPr lang="en-US" sz="1100" dirty="0"/>
          </a:p>
          <a:p>
            <a:pPr marL="0" indent="0" algn="ctr">
              <a:buNone/>
            </a:pPr>
            <a:r>
              <a:rPr lang="en-US" sz="1100" dirty="0">
                <a:solidFill>
                  <a:srgbClr val="1A2B32"/>
                </a:solidFill>
                <a:latin typeface="Calibri" panose="020F0502020204030204" pitchFamily="34" charset="0"/>
                <a:ea typeface="Calibri" panose="020F0502020204030204" pitchFamily="34" charset="-122"/>
                <a:cs typeface="Calibri" panose="020F0502020204030204" pitchFamily="34" charset="-120"/>
              </a:rPr>
              <a:t>Mark Medicines</a:t>
            </a:r>
            <a:endParaRPr lang="en-US" sz="1100" dirty="0"/>
          </a:p>
        </p:txBody>
      </p:sp>
      <p:sp>
        <p:nvSpPr>
          <p:cNvPr id="25" name="Shape 25"/>
          <p:cNvSpPr/>
          <p:nvPr/>
        </p:nvSpPr>
        <p:spPr>
          <a:xfrm>
            <a:off x="320040" y="1915668"/>
            <a:ext cx="457200" cy="457200"/>
          </a:xfrm>
          <a:prstGeom prst="ellipse">
            <a:avLst/>
          </a:prstGeom>
          <a:solidFill>
            <a:srgbClr val="0B1F2A"/>
          </a:solidFill>
        </p:spPr>
      </p:sp>
      <p:sp>
        <p:nvSpPr>
          <p:cNvPr id="26" name="Text 26"/>
          <p:cNvSpPr/>
          <p:nvPr/>
        </p:nvSpPr>
        <p:spPr>
          <a:xfrm>
            <a:off x="320040" y="1915668"/>
            <a:ext cx="457200" cy="457200"/>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A</a:t>
            </a:r>
            <a:endParaRPr lang="en-US" sz="1400" dirty="0"/>
          </a:p>
        </p:txBody>
      </p:sp>
      <p:sp>
        <p:nvSpPr>
          <p:cNvPr id="27" name="Text 27"/>
          <p:cNvSpPr/>
          <p:nvPr/>
        </p:nvSpPr>
        <p:spPr>
          <a:xfrm>
            <a:off x="914400" y="2016252"/>
            <a:ext cx="868680" cy="256032"/>
          </a:xfrm>
          <a:prstGeom prst="rect">
            <a:avLst/>
          </a:prstGeom>
          <a:noFill/>
        </p:spPr>
        <p:txBody>
          <a:bodyPr wrap="square" rtlCol="0" anchor="ctr"/>
          <a:lstStyle/>
          <a:p>
            <a:pPr marL="0" indent="0" algn="l">
              <a:buNone/>
            </a:pPr>
            <a:r>
              <a:rPr lang="en-US" sz="1100" b="1" dirty="0">
                <a:solidFill>
                  <a:srgbClr val="0B1F2A"/>
                </a:solidFill>
                <a:latin typeface="Calibri" panose="020F0502020204030204" pitchFamily="34" charset="0"/>
                <a:ea typeface="Calibri" panose="020F0502020204030204" pitchFamily="34" charset="-122"/>
                <a:cs typeface="Calibri" panose="020F0502020204030204" pitchFamily="34" charset="-120"/>
              </a:rPr>
              <a:t>Admin</a:t>
            </a:r>
            <a:endParaRPr lang="en-US" sz="1100" dirty="0"/>
          </a:p>
        </p:txBody>
      </p:sp>
      <p:sp>
        <p:nvSpPr>
          <p:cNvPr id="28" name="Shape 28"/>
          <p:cNvSpPr/>
          <p:nvPr/>
        </p:nvSpPr>
        <p:spPr>
          <a:xfrm>
            <a:off x="320040" y="2820924"/>
            <a:ext cx="457200" cy="457200"/>
          </a:xfrm>
          <a:prstGeom prst="ellipse">
            <a:avLst/>
          </a:prstGeom>
          <a:solidFill>
            <a:srgbClr val="0B1F2A"/>
          </a:solidFill>
        </p:spPr>
      </p:sp>
      <p:sp>
        <p:nvSpPr>
          <p:cNvPr id="29" name="Text 29"/>
          <p:cNvSpPr/>
          <p:nvPr/>
        </p:nvSpPr>
        <p:spPr>
          <a:xfrm>
            <a:off x="320040" y="2820924"/>
            <a:ext cx="457200" cy="457200"/>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H</a:t>
            </a:r>
            <a:endParaRPr lang="en-US" sz="1400" dirty="0"/>
          </a:p>
        </p:txBody>
      </p:sp>
      <p:sp>
        <p:nvSpPr>
          <p:cNvPr id="30" name="Text 30"/>
          <p:cNvSpPr/>
          <p:nvPr/>
        </p:nvSpPr>
        <p:spPr>
          <a:xfrm>
            <a:off x="914400" y="2921508"/>
            <a:ext cx="868680" cy="256032"/>
          </a:xfrm>
          <a:prstGeom prst="rect">
            <a:avLst/>
          </a:prstGeom>
          <a:noFill/>
        </p:spPr>
        <p:txBody>
          <a:bodyPr wrap="square" rtlCol="0" anchor="ctr"/>
          <a:lstStyle/>
          <a:p>
            <a:pPr marL="0" indent="0" algn="l">
              <a:buNone/>
            </a:pPr>
            <a:r>
              <a:rPr lang="en-US" sz="1100" b="1" dirty="0">
                <a:solidFill>
                  <a:srgbClr val="0B1F2A"/>
                </a:solidFill>
                <a:latin typeface="Calibri" panose="020F0502020204030204" pitchFamily="34" charset="0"/>
                <a:ea typeface="Calibri" panose="020F0502020204030204" pitchFamily="34" charset="-122"/>
                <a:cs typeface="Calibri" panose="020F0502020204030204" pitchFamily="34" charset="-120"/>
              </a:rPr>
              <a:t>Hospital</a:t>
            </a:r>
            <a:endParaRPr lang="en-US" sz="1100" dirty="0"/>
          </a:p>
        </p:txBody>
      </p:sp>
      <p:sp>
        <p:nvSpPr>
          <p:cNvPr id="31" name="Shape 31"/>
          <p:cNvSpPr/>
          <p:nvPr/>
        </p:nvSpPr>
        <p:spPr>
          <a:xfrm>
            <a:off x="320040" y="3726180"/>
            <a:ext cx="457200" cy="457200"/>
          </a:xfrm>
          <a:prstGeom prst="ellipse">
            <a:avLst/>
          </a:prstGeom>
          <a:solidFill>
            <a:srgbClr val="0B1F2A"/>
          </a:solidFill>
        </p:spPr>
      </p:sp>
      <p:sp>
        <p:nvSpPr>
          <p:cNvPr id="32" name="Text 32"/>
          <p:cNvSpPr/>
          <p:nvPr/>
        </p:nvSpPr>
        <p:spPr>
          <a:xfrm>
            <a:off x="320040" y="3726180"/>
            <a:ext cx="457200" cy="457200"/>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D</a:t>
            </a:r>
            <a:endParaRPr lang="en-US" sz="1400" dirty="0"/>
          </a:p>
        </p:txBody>
      </p:sp>
      <p:sp>
        <p:nvSpPr>
          <p:cNvPr id="33" name="Text 33"/>
          <p:cNvSpPr/>
          <p:nvPr/>
        </p:nvSpPr>
        <p:spPr>
          <a:xfrm>
            <a:off x="914400" y="3826764"/>
            <a:ext cx="868680" cy="256032"/>
          </a:xfrm>
          <a:prstGeom prst="rect">
            <a:avLst/>
          </a:prstGeom>
          <a:noFill/>
        </p:spPr>
        <p:txBody>
          <a:bodyPr wrap="square" rtlCol="0" anchor="ctr"/>
          <a:lstStyle/>
          <a:p>
            <a:pPr marL="0" indent="0" algn="l">
              <a:buNone/>
            </a:pPr>
            <a:r>
              <a:rPr lang="en-US" sz="1100" b="1" dirty="0">
                <a:solidFill>
                  <a:srgbClr val="0B1F2A"/>
                </a:solidFill>
                <a:latin typeface="Calibri" panose="020F0502020204030204" pitchFamily="34" charset="0"/>
                <a:ea typeface="Calibri" panose="020F0502020204030204" pitchFamily="34" charset="-122"/>
                <a:cs typeface="Calibri" panose="020F0502020204030204" pitchFamily="34" charset="-120"/>
              </a:rPr>
              <a:t>Doctor</a:t>
            </a:r>
            <a:endParaRPr lang="en-US" sz="1100" dirty="0"/>
          </a:p>
        </p:txBody>
      </p:sp>
      <p:sp>
        <p:nvSpPr>
          <p:cNvPr id="34" name="Shape 34"/>
          <p:cNvSpPr/>
          <p:nvPr/>
        </p:nvSpPr>
        <p:spPr>
          <a:xfrm>
            <a:off x="320040" y="4631436"/>
            <a:ext cx="457200" cy="457200"/>
          </a:xfrm>
          <a:prstGeom prst="ellipse">
            <a:avLst/>
          </a:prstGeom>
          <a:solidFill>
            <a:srgbClr val="0B1F2A"/>
          </a:solidFill>
        </p:spPr>
      </p:sp>
      <p:sp>
        <p:nvSpPr>
          <p:cNvPr id="35" name="Text 35"/>
          <p:cNvSpPr/>
          <p:nvPr/>
        </p:nvSpPr>
        <p:spPr>
          <a:xfrm>
            <a:off x="320040" y="4631436"/>
            <a:ext cx="457200" cy="457200"/>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P</a:t>
            </a:r>
            <a:endParaRPr lang="en-US" sz="1400" dirty="0"/>
          </a:p>
        </p:txBody>
      </p:sp>
      <p:sp>
        <p:nvSpPr>
          <p:cNvPr id="36" name="Text 36"/>
          <p:cNvSpPr/>
          <p:nvPr/>
        </p:nvSpPr>
        <p:spPr>
          <a:xfrm>
            <a:off x="914400" y="4732020"/>
            <a:ext cx="868680" cy="256032"/>
          </a:xfrm>
          <a:prstGeom prst="rect">
            <a:avLst/>
          </a:prstGeom>
          <a:noFill/>
        </p:spPr>
        <p:txBody>
          <a:bodyPr wrap="square" rtlCol="0" anchor="ctr"/>
          <a:lstStyle/>
          <a:p>
            <a:pPr marL="0" indent="0" algn="l">
              <a:buNone/>
            </a:pPr>
            <a:r>
              <a:rPr lang="en-US" sz="1100" b="1" dirty="0">
                <a:solidFill>
                  <a:srgbClr val="0B1F2A"/>
                </a:solidFill>
                <a:latin typeface="Calibri" panose="020F0502020204030204" pitchFamily="34" charset="0"/>
                <a:ea typeface="Calibri" panose="020F0502020204030204" pitchFamily="34" charset="-122"/>
                <a:cs typeface="Calibri" panose="020F0502020204030204" pitchFamily="34" charset="-120"/>
              </a:rPr>
              <a:t>Patient</a:t>
            </a:r>
            <a:endParaRPr lang="en-US" sz="1100" dirty="0"/>
          </a:p>
        </p:txBody>
      </p:sp>
      <p:sp>
        <p:nvSpPr>
          <p:cNvPr id="37" name="Shape 37"/>
          <p:cNvSpPr/>
          <p:nvPr/>
        </p:nvSpPr>
        <p:spPr>
          <a:xfrm>
            <a:off x="320040" y="5536692"/>
            <a:ext cx="457200" cy="457200"/>
          </a:xfrm>
          <a:prstGeom prst="ellipse">
            <a:avLst/>
          </a:prstGeom>
          <a:solidFill>
            <a:srgbClr val="0B1F2A"/>
          </a:solidFill>
        </p:spPr>
      </p:sp>
      <p:sp>
        <p:nvSpPr>
          <p:cNvPr id="38" name="Text 38"/>
          <p:cNvSpPr/>
          <p:nvPr/>
        </p:nvSpPr>
        <p:spPr>
          <a:xfrm>
            <a:off x="320040" y="5536692"/>
            <a:ext cx="457200" cy="457200"/>
          </a:xfrm>
          <a:prstGeom prst="rect">
            <a:avLst/>
          </a:prstGeom>
          <a:noFill/>
        </p:spPr>
        <p:txBody>
          <a:bodyPr wrap="square" rtlCol="0" anchor="ctr"/>
          <a:lstStyle/>
          <a:p>
            <a:pPr marL="0" indent="0" algn="ctr">
              <a:buNone/>
            </a:pPr>
            <a:r>
              <a:rPr lang="en-US" sz="1400" b="1" dirty="0">
                <a:solidFill>
                  <a:srgbClr val="FFFFFF"/>
                </a:solidFill>
                <a:latin typeface="Calibri" panose="020F0502020204030204" pitchFamily="34" charset="0"/>
                <a:ea typeface="Calibri" panose="020F0502020204030204" pitchFamily="34" charset="-122"/>
                <a:cs typeface="Calibri" panose="020F0502020204030204" pitchFamily="34" charset="-120"/>
              </a:rPr>
              <a:t>P</a:t>
            </a:r>
            <a:endParaRPr lang="en-US" sz="1400" dirty="0"/>
          </a:p>
        </p:txBody>
      </p:sp>
      <p:sp>
        <p:nvSpPr>
          <p:cNvPr id="39" name="Text 39"/>
          <p:cNvSpPr/>
          <p:nvPr/>
        </p:nvSpPr>
        <p:spPr>
          <a:xfrm>
            <a:off x="914400" y="5637276"/>
            <a:ext cx="868680" cy="256032"/>
          </a:xfrm>
          <a:prstGeom prst="rect">
            <a:avLst/>
          </a:prstGeom>
          <a:noFill/>
        </p:spPr>
        <p:txBody>
          <a:bodyPr wrap="square" rtlCol="0" anchor="ctr"/>
          <a:lstStyle/>
          <a:p>
            <a:pPr marL="0" indent="0" algn="l">
              <a:buNone/>
            </a:pPr>
            <a:r>
              <a:rPr lang="en-US" sz="1100" b="1" dirty="0">
                <a:solidFill>
                  <a:srgbClr val="0B1F2A"/>
                </a:solidFill>
                <a:latin typeface="Calibri" panose="020F0502020204030204" pitchFamily="34" charset="0"/>
                <a:ea typeface="Calibri" panose="020F0502020204030204" pitchFamily="34" charset="-122"/>
                <a:cs typeface="Calibri" panose="020F0502020204030204" pitchFamily="34" charset="-120"/>
              </a:rPr>
              <a:t>Pharmacist</a:t>
            </a:r>
            <a:endParaRPr lang="en-US" sz="1100" dirty="0"/>
          </a:p>
        </p:txBody>
      </p:sp>
      <p:sp>
        <p:nvSpPr>
          <p:cNvPr id="40" name="Shape 40"/>
          <p:cNvSpPr/>
          <p:nvPr/>
        </p:nvSpPr>
        <p:spPr>
          <a:xfrm>
            <a:off x="777240" y="2144268"/>
            <a:ext cx="1252728" cy="598932"/>
          </a:xfrm>
          <a:prstGeom prst="line">
            <a:avLst/>
          </a:prstGeom>
          <a:noFill/>
          <a:ln w="9525">
            <a:solidFill>
              <a:srgbClr val="B9C7CC"/>
            </a:solidFill>
            <a:prstDash val="solid"/>
          </a:ln>
        </p:spPr>
      </p:sp>
      <p:sp>
        <p:nvSpPr>
          <p:cNvPr id="41" name="Shape 41"/>
          <p:cNvSpPr/>
          <p:nvPr/>
        </p:nvSpPr>
        <p:spPr>
          <a:xfrm>
            <a:off x="777240" y="2743200"/>
            <a:ext cx="4590288" cy="1211580"/>
          </a:xfrm>
          <a:prstGeom prst="line">
            <a:avLst/>
          </a:prstGeom>
          <a:noFill/>
          <a:ln w="9525">
            <a:solidFill>
              <a:srgbClr val="B9C7CC"/>
            </a:solidFill>
            <a:prstDash val="solid"/>
          </a:ln>
        </p:spPr>
      </p:sp>
      <p:sp>
        <p:nvSpPr>
          <p:cNvPr id="42" name="Shape 42"/>
          <p:cNvSpPr/>
          <p:nvPr/>
        </p:nvSpPr>
        <p:spPr>
          <a:xfrm>
            <a:off x="777240" y="3954780"/>
            <a:ext cx="1252728" cy="251460"/>
          </a:xfrm>
          <a:prstGeom prst="line">
            <a:avLst/>
          </a:prstGeom>
          <a:noFill/>
          <a:ln w="9525">
            <a:solidFill>
              <a:srgbClr val="B9C7CC"/>
            </a:solidFill>
            <a:prstDash val="solid"/>
          </a:ln>
        </p:spPr>
      </p:sp>
      <p:sp>
        <p:nvSpPr>
          <p:cNvPr id="43" name="Shape 43"/>
          <p:cNvSpPr/>
          <p:nvPr/>
        </p:nvSpPr>
        <p:spPr>
          <a:xfrm>
            <a:off x="777240" y="2743200"/>
            <a:ext cx="7744968" cy="306324"/>
          </a:xfrm>
          <a:prstGeom prst="line">
            <a:avLst/>
          </a:prstGeom>
          <a:noFill/>
          <a:ln w="9525">
            <a:solidFill>
              <a:srgbClr val="B9C7CC"/>
            </a:solidFill>
            <a:prstDash val="solid"/>
          </a:ln>
        </p:spPr>
      </p:sp>
      <p:sp>
        <p:nvSpPr>
          <p:cNvPr id="44" name="Shape 44"/>
          <p:cNvSpPr/>
          <p:nvPr/>
        </p:nvSpPr>
        <p:spPr>
          <a:xfrm>
            <a:off x="777240" y="3049524"/>
            <a:ext cx="7744968" cy="1156716"/>
          </a:xfrm>
          <a:prstGeom prst="line">
            <a:avLst/>
          </a:prstGeom>
          <a:noFill/>
          <a:ln w="9525">
            <a:solidFill>
              <a:srgbClr val="B9C7CC"/>
            </a:solidFill>
            <a:prstDash val="solid"/>
          </a:ln>
        </p:spPr>
      </p:sp>
      <p:sp>
        <p:nvSpPr>
          <p:cNvPr id="45" name="Shape 45"/>
          <p:cNvSpPr/>
          <p:nvPr/>
        </p:nvSpPr>
        <p:spPr>
          <a:xfrm>
            <a:off x="777240" y="4206240"/>
            <a:ext cx="1252728" cy="653796"/>
          </a:xfrm>
          <a:prstGeom prst="line">
            <a:avLst/>
          </a:prstGeom>
          <a:noFill/>
          <a:ln w="9525">
            <a:solidFill>
              <a:srgbClr val="B9C7CC"/>
            </a:solidFill>
            <a:prstDash val="solid"/>
          </a:ln>
        </p:spPr>
      </p:sp>
      <p:sp>
        <p:nvSpPr>
          <p:cNvPr id="46" name="Shape 46"/>
          <p:cNvSpPr/>
          <p:nvPr/>
        </p:nvSpPr>
        <p:spPr>
          <a:xfrm>
            <a:off x="777240" y="4206240"/>
            <a:ext cx="4590288" cy="653796"/>
          </a:xfrm>
          <a:prstGeom prst="line">
            <a:avLst/>
          </a:prstGeom>
          <a:noFill/>
          <a:ln w="9525">
            <a:solidFill>
              <a:srgbClr val="B9C7CC"/>
            </a:solidFill>
            <a:prstDash val="solid"/>
          </a:ln>
        </p:spPr>
      </p:sp>
      <p:sp>
        <p:nvSpPr>
          <p:cNvPr id="47" name="Shape 47"/>
          <p:cNvSpPr/>
          <p:nvPr/>
        </p:nvSpPr>
        <p:spPr>
          <a:xfrm>
            <a:off x="777240" y="4860036"/>
            <a:ext cx="1252728" cy="809244"/>
          </a:xfrm>
          <a:prstGeom prst="line">
            <a:avLst/>
          </a:prstGeom>
          <a:noFill/>
          <a:ln w="9525">
            <a:solidFill>
              <a:srgbClr val="B9C7CC"/>
            </a:solidFill>
            <a:prstDash val="solid"/>
          </a:ln>
        </p:spPr>
      </p:sp>
      <p:sp>
        <p:nvSpPr>
          <p:cNvPr id="48" name="Shape 48"/>
          <p:cNvSpPr/>
          <p:nvPr/>
        </p:nvSpPr>
        <p:spPr>
          <a:xfrm>
            <a:off x="777240" y="4860036"/>
            <a:ext cx="4590288" cy="809244"/>
          </a:xfrm>
          <a:prstGeom prst="line">
            <a:avLst/>
          </a:prstGeom>
          <a:noFill/>
          <a:ln w="9525">
            <a:solidFill>
              <a:srgbClr val="B9C7CC"/>
            </a:solidFill>
            <a:prstDash val="solid"/>
          </a:ln>
        </p:spPr>
      </p:sp>
      <p:sp>
        <p:nvSpPr>
          <p:cNvPr id="49" name="Shape 49"/>
          <p:cNvSpPr/>
          <p:nvPr/>
        </p:nvSpPr>
        <p:spPr>
          <a:xfrm>
            <a:off x="777240" y="5669280"/>
            <a:ext cx="7744968" cy="96012"/>
          </a:xfrm>
          <a:prstGeom prst="line">
            <a:avLst/>
          </a:prstGeom>
          <a:noFill/>
          <a:ln w="9525">
            <a:solidFill>
              <a:srgbClr val="B9C7CC"/>
            </a:solidFill>
            <a:prstDash val="solid"/>
          </a:ln>
        </p:spPr>
      </p:sp>
      <p:sp>
        <p:nvSpPr>
          <p:cNvPr id="50" name="Text 50"/>
          <p:cNvSpPr/>
          <p:nvPr/>
        </p:nvSpPr>
        <p:spPr>
          <a:xfrm>
            <a:off x="548640" y="6537960"/>
            <a:ext cx="7315200" cy="274320"/>
          </a:xfrm>
          <a:prstGeom prst="rect">
            <a:avLst/>
          </a:prstGeom>
          <a:noFill/>
        </p:spPr>
        <p:txBody>
          <a:bodyPr wrap="square" rtlCol="0" anchor="ctr"/>
          <a:lstStyle/>
          <a:p>
            <a:pPr marL="0" indent="0" algn="l">
              <a:buNone/>
            </a:pPr>
            <a:r>
              <a:rPr lang="en-US" sz="900" dirty="0">
                <a:solidFill>
                  <a:srgbClr val="5C7078"/>
                </a:solidFill>
                <a:latin typeface="Calibri" panose="020F0502020204030204" pitchFamily="34" charset="0"/>
                <a:ea typeface="Calibri" panose="020F0502020204030204" pitchFamily="34" charset="-122"/>
                <a:cs typeface="Calibri" panose="020F0502020204030204" pitchFamily="34" charset="-120"/>
              </a:rPr>
              <a:t>MEDINEX — Mini Project 2 — Review 1</a:t>
            </a:r>
            <a:endParaRPr lang="en-US" sz="900" dirty="0"/>
          </a:p>
        </p:txBody>
      </p:sp>
      <p:sp>
        <p:nvSpPr>
          <p:cNvPr id="51" name="Text 51"/>
          <p:cNvSpPr/>
          <p:nvPr/>
        </p:nvSpPr>
        <p:spPr>
          <a:xfrm>
            <a:off x="11521440" y="6537960"/>
            <a:ext cx="457200" cy="274320"/>
          </a:xfrm>
          <a:prstGeom prst="rect">
            <a:avLst/>
          </a:prstGeom>
          <a:noFill/>
        </p:spPr>
        <p:txBody>
          <a:bodyPr wrap="square" rtlCol="0" anchor="ctr"/>
          <a:lstStyle/>
          <a:p>
            <a:pPr marL="0" indent="0" algn="r">
              <a:buNone/>
            </a:pPr>
            <a:r>
              <a:rPr lang="en-US" sz="900" dirty="0">
                <a:solidFill>
                  <a:srgbClr val="5C7078"/>
                </a:solidFill>
                <a:latin typeface="Calibri" panose="020F0502020204030204" pitchFamily="34" charset="0"/>
                <a:ea typeface="Calibri" panose="020F0502020204030204" pitchFamily="34" charset="-122"/>
                <a:cs typeface="Calibri" panose="020F0502020204030204"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p:spPr>
        <p:txBody>
          <a:bodyPr wrap="square" rtlCol="0" anchor="ctr"/>
          <a:lstStyle/>
          <a:p>
            <a:pPr marL="0" indent="0">
              <a:buNone/>
            </a:pPr>
            <a:r>
              <a:rPr lang="en-US" sz="1300" b="1" kern="0" spc="200" dirty="0">
                <a:solidFill>
                  <a:srgbClr val="00A896"/>
                </a:solidFill>
                <a:latin typeface="Calibri" panose="020F0502020204030204" pitchFamily="34" charset="0"/>
                <a:ea typeface="Calibri" panose="020F0502020204030204" pitchFamily="34" charset="-122"/>
                <a:cs typeface="Calibri" panose="020F0502020204030204" pitchFamily="34" charset="-120"/>
              </a:rPr>
              <a:t>UML DIAGRAM · 2 OF 2</a:t>
            </a:r>
            <a:endParaRPr lang="en-US" sz="1300" dirty="0"/>
          </a:p>
        </p:txBody>
      </p:sp>
      <p:sp>
        <p:nvSpPr>
          <p:cNvPr id="3" name="Text 1"/>
          <p:cNvSpPr/>
          <p:nvPr/>
        </p:nvSpPr>
        <p:spPr>
          <a:xfrm>
            <a:off x="548640" y="594360"/>
            <a:ext cx="10789920" cy="640080"/>
          </a:xfrm>
          <a:prstGeom prst="rect">
            <a:avLst/>
          </a:prstGeom>
          <a:noFill/>
        </p:spPr>
        <p:txBody>
          <a:bodyPr wrap="square" rtlCol="0" anchor="ctr"/>
          <a:lstStyle/>
          <a:p>
            <a:pPr marL="0" indent="0">
              <a:buNone/>
            </a:pPr>
            <a:r>
              <a:rPr lang="en-US" sz="3000" b="1" dirty="0">
                <a:solidFill>
                  <a:srgbClr val="0B1F2A"/>
                </a:solidFill>
                <a:latin typeface="Cambria" panose="02040503050406030204" pitchFamily="34" charset="0"/>
                <a:ea typeface="Cambria" panose="02040503050406030204" pitchFamily="34" charset="-122"/>
                <a:cs typeface="Cambria" panose="02040503050406030204" pitchFamily="34" charset="-120"/>
              </a:rPr>
              <a:t>System Architecture</a:t>
            </a:r>
            <a:endParaRPr lang="en-US" sz="3000" dirty="0"/>
          </a:p>
        </p:txBody>
      </p:sp>
      <p:sp>
        <p:nvSpPr>
          <p:cNvPr id="4" name="Shape 2"/>
          <p:cNvSpPr/>
          <p:nvPr/>
        </p:nvSpPr>
        <p:spPr>
          <a:xfrm>
            <a:off x="1280160" y="1508760"/>
            <a:ext cx="9601200" cy="1051560"/>
          </a:xfrm>
          <a:prstGeom prst="roundRect">
            <a:avLst>
              <a:gd name="adj" fmla="val 5217"/>
            </a:avLst>
          </a:prstGeom>
          <a:solidFill>
            <a:srgbClr val="028090"/>
          </a:solidFill>
        </p:spPr>
      </p:sp>
      <p:sp>
        <p:nvSpPr>
          <p:cNvPr id="5" name="Text 3"/>
          <p:cNvSpPr/>
          <p:nvPr/>
        </p:nvSpPr>
        <p:spPr>
          <a:xfrm>
            <a:off x="1554480" y="1600200"/>
            <a:ext cx="3840480" cy="868680"/>
          </a:xfrm>
          <a:prstGeom prst="rect">
            <a:avLst/>
          </a:prstGeom>
          <a:noFill/>
        </p:spPr>
        <p:txBody>
          <a:bodyPr wrap="square" rtlCol="0" anchor="ctr"/>
          <a:lstStyle/>
          <a:p>
            <a:pPr marL="0" indent="0">
              <a:lnSpc>
                <a:spcPts val="1600"/>
              </a:lnSpc>
              <a:buNone/>
            </a:pPr>
            <a:r>
              <a:rPr lang="en-US" sz="1400" b="1" dirty="0">
                <a:solidFill>
                  <a:srgbClr val="FFFFFF"/>
                </a:solidFill>
                <a:latin typeface="Cambria" panose="02040503050406030204" pitchFamily="34" charset="0"/>
                <a:ea typeface="Cambria" panose="02040503050406030204" pitchFamily="34" charset="-122"/>
                <a:cs typeface="Cambria" panose="02040503050406030204" pitchFamily="34" charset="-120"/>
              </a:rPr>
              <a:t>Frontend</a:t>
            </a:r>
            <a:endParaRPr lang="en-US" sz="1400" dirty="0"/>
          </a:p>
          <a:p>
            <a:pPr marL="0" indent="0">
              <a:lnSpc>
                <a:spcPts val="1600"/>
              </a:lnSpc>
              <a:buNone/>
            </a:pPr>
            <a:r>
              <a:rPr lang="en-US" sz="1400" b="1" dirty="0">
                <a:solidFill>
                  <a:srgbClr val="FFFFFF"/>
                </a:solidFill>
                <a:latin typeface="Cambria" panose="02040503050406030204" pitchFamily="34" charset="0"/>
                <a:ea typeface="Cambria" panose="02040503050406030204" pitchFamily="34" charset="-122"/>
                <a:cs typeface="Cambria" panose="02040503050406030204" pitchFamily="34" charset="-120"/>
              </a:rPr>
              <a:t>React + Vite + Bootstrap</a:t>
            </a:r>
            <a:endParaRPr lang="en-US" sz="1400" dirty="0"/>
          </a:p>
        </p:txBody>
      </p:sp>
      <p:sp>
        <p:nvSpPr>
          <p:cNvPr id="6" name="Text 4"/>
          <p:cNvSpPr/>
          <p:nvPr/>
        </p:nvSpPr>
        <p:spPr>
          <a:xfrm>
            <a:off x="5486400" y="1600200"/>
            <a:ext cx="5212080" cy="868680"/>
          </a:xfrm>
          <a:prstGeom prst="rect">
            <a:avLst/>
          </a:prstGeom>
          <a:noFill/>
        </p:spPr>
        <p:txBody>
          <a:bodyPr wrap="square" rtlCol="0" anchor="ctr"/>
          <a:lstStyle/>
          <a:p>
            <a:pPr marL="0" indent="0" algn="l">
              <a:buNone/>
            </a:pPr>
            <a:r>
              <a:rPr lang="en-US" sz="1150" dirty="0">
                <a:solidFill>
                  <a:srgbClr val="F0FBF9"/>
                </a:solidFill>
                <a:latin typeface="Calibri" panose="020F0502020204030204" pitchFamily="34" charset="0"/>
                <a:ea typeface="Calibri" panose="020F0502020204030204" pitchFamily="34" charset="-122"/>
                <a:cs typeface="Calibri" panose="020F0502020204030204" pitchFamily="34" charset="-120"/>
              </a:rPr>
              <a:t>Login · Register · Role Dashboards</a:t>
            </a:r>
            <a:endParaRPr lang="en-US" sz="1150" dirty="0"/>
          </a:p>
        </p:txBody>
      </p:sp>
      <p:sp>
        <p:nvSpPr>
          <p:cNvPr id="7" name="Shape 5"/>
          <p:cNvSpPr/>
          <p:nvPr/>
        </p:nvSpPr>
        <p:spPr>
          <a:xfrm>
            <a:off x="1280160" y="2880360"/>
            <a:ext cx="9601200" cy="1051560"/>
          </a:xfrm>
          <a:prstGeom prst="roundRect">
            <a:avLst>
              <a:gd name="adj" fmla="val 5217"/>
            </a:avLst>
          </a:prstGeom>
          <a:solidFill>
            <a:srgbClr val="00A896"/>
          </a:solidFill>
        </p:spPr>
      </p:sp>
      <p:sp>
        <p:nvSpPr>
          <p:cNvPr id="8" name="Text 6"/>
          <p:cNvSpPr/>
          <p:nvPr/>
        </p:nvSpPr>
        <p:spPr>
          <a:xfrm>
            <a:off x="1554480" y="2971800"/>
            <a:ext cx="3840480" cy="868680"/>
          </a:xfrm>
          <a:prstGeom prst="rect">
            <a:avLst/>
          </a:prstGeom>
          <a:noFill/>
        </p:spPr>
        <p:txBody>
          <a:bodyPr wrap="square" rtlCol="0" anchor="ctr"/>
          <a:lstStyle/>
          <a:p>
            <a:pPr marL="0" indent="0">
              <a:lnSpc>
                <a:spcPts val="1600"/>
              </a:lnSpc>
              <a:buNone/>
            </a:pPr>
            <a:r>
              <a:rPr lang="en-US" sz="1400" b="1" dirty="0">
                <a:solidFill>
                  <a:srgbClr val="FFFFFF"/>
                </a:solidFill>
                <a:latin typeface="Cambria" panose="02040503050406030204" pitchFamily="34" charset="0"/>
                <a:ea typeface="Cambria" panose="02040503050406030204" pitchFamily="34" charset="-122"/>
                <a:cs typeface="Cambria" panose="02040503050406030204" pitchFamily="34" charset="-120"/>
              </a:rPr>
              <a:t>Backend API</a:t>
            </a:r>
            <a:endParaRPr lang="en-US" sz="1400" dirty="0"/>
          </a:p>
          <a:p>
            <a:pPr marL="0" indent="0">
              <a:lnSpc>
                <a:spcPts val="1600"/>
              </a:lnSpc>
              <a:buNone/>
            </a:pPr>
            <a:r>
              <a:rPr lang="en-US" sz="1400" b="1" dirty="0">
                <a:solidFill>
                  <a:srgbClr val="FFFFFF"/>
                </a:solidFill>
                <a:latin typeface="Cambria" panose="02040503050406030204" pitchFamily="34" charset="0"/>
                <a:ea typeface="Cambria" panose="02040503050406030204" pitchFamily="34" charset="-122"/>
                <a:cs typeface="Cambria" panose="02040503050406030204" pitchFamily="34" charset="-120"/>
              </a:rPr>
              <a:t>Node.js + Express</a:t>
            </a:r>
            <a:endParaRPr lang="en-US" sz="1400" dirty="0"/>
          </a:p>
        </p:txBody>
      </p:sp>
      <p:sp>
        <p:nvSpPr>
          <p:cNvPr id="9" name="Text 7"/>
          <p:cNvSpPr/>
          <p:nvPr/>
        </p:nvSpPr>
        <p:spPr>
          <a:xfrm>
            <a:off x="5486400" y="2971800"/>
            <a:ext cx="5212080" cy="868680"/>
          </a:xfrm>
          <a:prstGeom prst="rect">
            <a:avLst/>
          </a:prstGeom>
          <a:noFill/>
        </p:spPr>
        <p:txBody>
          <a:bodyPr wrap="square" rtlCol="0" anchor="ctr"/>
          <a:lstStyle/>
          <a:p>
            <a:pPr marL="0" indent="0" algn="l">
              <a:buNone/>
            </a:pPr>
            <a:r>
              <a:rPr lang="en-US" sz="1150" dirty="0">
                <a:solidFill>
                  <a:srgbClr val="F0FBF9"/>
                </a:solidFill>
                <a:latin typeface="Calibri" panose="020F0502020204030204" pitchFamily="34" charset="0"/>
                <a:ea typeface="Calibri" panose="020F0502020204030204" pitchFamily="34" charset="-122"/>
                <a:cs typeface="Calibri" panose="020F0502020204030204" pitchFamily="34" charset="-120"/>
              </a:rPr>
              <a:t>Auth · Admin · Hospital · Doctor · Patient · Pharmacist routes</a:t>
            </a:r>
            <a:endParaRPr lang="en-US" sz="1150" dirty="0"/>
          </a:p>
        </p:txBody>
      </p:sp>
      <p:sp>
        <p:nvSpPr>
          <p:cNvPr id="10" name="Shape 8"/>
          <p:cNvSpPr/>
          <p:nvPr/>
        </p:nvSpPr>
        <p:spPr>
          <a:xfrm>
            <a:off x="1280160" y="4251960"/>
            <a:ext cx="9601200" cy="1051560"/>
          </a:xfrm>
          <a:prstGeom prst="roundRect">
            <a:avLst>
              <a:gd name="adj" fmla="val 5217"/>
            </a:avLst>
          </a:prstGeom>
          <a:solidFill>
            <a:srgbClr val="02C39A"/>
          </a:solidFill>
        </p:spPr>
      </p:sp>
      <p:sp>
        <p:nvSpPr>
          <p:cNvPr id="11" name="Text 9"/>
          <p:cNvSpPr/>
          <p:nvPr/>
        </p:nvSpPr>
        <p:spPr>
          <a:xfrm>
            <a:off x="1554480" y="4343400"/>
            <a:ext cx="3840480" cy="868680"/>
          </a:xfrm>
          <a:prstGeom prst="rect">
            <a:avLst/>
          </a:prstGeom>
          <a:noFill/>
        </p:spPr>
        <p:txBody>
          <a:bodyPr wrap="square" rtlCol="0" anchor="ctr"/>
          <a:lstStyle/>
          <a:p>
            <a:pPr marL="0" indent="0">
              <a:lnSpc>
                <a:spcPts val="1600"/>
              </a:lnSpc>
              <a:buNone/>
            </a:pPr>
            <a:r>
              <a:rPr lang="en-US" sz="1400" b="1" dirty="0">
                <a:solidFill>
                  <a:srgbClr val="FFFFFF"/>
                </a:solidFill>
                <a:latin typeface="Cambria" panose="02040503050406030204" pitchFamily="34" charset="0"/>
                <a:ea typeface="Cambria" panose="02040503050406030204" pitchFamily="34" charset="-122"/>
                <a:cs typeface="Cambria" panose="02040503050406030204" pitchFamily="34" charset="-120"/>
              </a:rPr>
              <a:t>Data &amp; AI Layer</a:t>
            </a:r>
            <a:endParaRPr lang="en-US" sz="1400" dirty="0"/>
          </a:p>
        </p:txBody>
      </p:sp>
      <p:sp>
        <p:nvSpPr>
          <p:cNvPr id="12" name="Text 10"/>
          <p:cNvSpPr/>
          <p:nvPr/>
        </p:nvSpPr>
        <p:spPr>
          <a:xfrm>
            <a:off x="5486400" y="4343400"/>
            <a:ext cx="5212080" cy="868680"/>
          </a:xfrm>
          <a:prstGeom prst="rect">
            <a:avLst/>
          </a:prstGeom>
          <a:noFill/>
        </p:spPr>
        <p:txBody>
          <a:bodyPr wrap="square" rtlCol="0" anchor="ctr"/>
          <a:lstStyle/>
          <a:p>
            <a:pPr marL="0" indent="0" algn="l">
              <a:buNone/>
            </a:pPr>
            <a:r>
              <a:rPr lang="en-US" sz="1150" dirty="0">
                <a:solidFill>
                  <a:srgbClr val="F0FBF9"/>
                </a:solidFill>
                <a:latin typeface="Calibri" panose="020F0502020204030204" pitchFamily="34" charset="0"/>
                <a:ea typeface="Calibri" panose="020F0502020204030204" pitchFamily="34" charset="-122"/>
                <a:cs typeface="Calibri" panose="020F0502020204030204" pitchFamily="34" charset="-120"/>
              </a:rPr>
              <a:t>MySQL (medinex_db, 21 tables)  ·  Gemini AI — prescription verification</a:t>
            </a:r>
            <a:endParaRPr lang="en-US" sz="1150" dirty="0"/>
          </a:p>
        </p:txBody>
      </p:sp>
      <p:sp>
        <p:nvSpPr>
          <p:cNvPr id="13" name="Shape 11"/>
          <p:cNvSpPr/>
          <p:nvPr/>
        </p:nvSpPr>
        <p:spPr>
          <a:xfrm>
            <a:off x="5852160" y="2578608"/>
            <a:ext cx="320040" cy="292608"/>
          </a:xfrm>
          <a:prstGeom prst="downArrow">
            <a:avLst/>
          </a:prstGeom>
          <a:solidFill>
            <a:srgbClr val="0B1F2A"/>
          </a:solidFill>
        </p:spPr>
      </p:sp>
      <p:sp>
        <p:nvSpPr>
          <p:cNvPr id="14" name="Shape 12"/>
          <p:cNvSpPr/>
          <p:nvPr/>
        </p:nvSpPr>
        <p:spPr>
          <a:xfrm>
            <a:off x="5852160" y="3950208"/>
            <a:ext cx="320040" cy="292608"/>
          </a:xfrm>
          <a:prstGeom prst="downArrow">
            <a:avLst/>
          </a:prstGeom>
          <a:solidFill>
            <a:srgbClr val="0B1F2A"/>
          </a:solidFill>
        </p:spPr>
      </p:sp>
      <p:sp>
        <p:nvSpPr>
          <p:cNvPr id="15" name="Text 13"/>
          <p:cNvSpPr/>
          <p:nvPr/>
        </p:nvSpPr>
        <p:spPr>
          <a:xfrm>
            <a:off x="1280160" y="5486400"/>
            <a:ext cx="9601200" cy="457200"/>
          </a:xfrm>
          <a:prstGeom prst="rect">
            <a:avLst/>
          </a:prstGeom>
          <a:noFill/>
        </p:spPr>
        <p:txBody>
          <a:bodyPr wrap="square" rtlCol="0" anchor="ctr"/>
          <a:lstStyle/>
          <a:p>
            <a:pPr marL="0" indent="0">
              <a:buNone/>
            </a:pPr>
            <a:r>
              <a:rPr lang="en-US" sz="1150" i="1" dirty="0">
                <a:solidFill>
                  <a:srgbClr val="5C7078"/>
                </a:solidFill>
                <a:latin typeface="Calibri" panose="020F0502020204030204" pitchFamily="34" charset="0"/>
                <a:ea typeface="Calibri" panose="020F0502020204030204" pitchFamily="34" charset="-122"/>
                <a:cs typeface="Calibri" panose="020F0502020204030204" pitchFamily="34" charset="-120"/>
              </a:rPr>
              <a:t>Security: helmet, CORS, rate limiting, JWT (role-based, 15-min access token), bcrypt password hashing, OTP-based reset</a:t>
            </a:r>
            <a:endParaRPr lang="en-US" sz="1150" dirty="0"/>
          </a:p>
        </p:txBody>
      </p:sp>
      <p:sp>
        <p:nvSpPr>
          <p:cNvPr id="16" name="Text 14"/>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5C7078"/>
                </a:solidFill>
                <a:latin typeface="Calibri" panose="020F0502020204030204" pitchFamily="34" charset="0"/>
                <a:ea typeface="Calibri" panose="020F0502020204030204" pitchFamily="34" charset="-122"/>
                <a:cs typeface="Calibri" panose="020F0502020204030204" pitchFamily="34" charset="-120"/>
              </a:rPr>
              <a:t>MEDINEX — Mini Project 2 — Review 1</a:t>
            </a:r>
            <a:endParaRPr lang="en-US" sz="900" dirty="0"/>
          </a:p>
        </p:txBody>
      </p:sp>
      <p:sp>
        <p:nvSpPr>
          <p:cNvPr id="17" name="Text 15"/>
          <p:cNvSpPr/>
          <p:nvPr/>
        </p:nvSpPr>
        <p:spPr>
          <a:xfrm>
            <a:off x="11521440" y="6537960"/>
            <a:ext cx="457200" cy="274320"/>
          </a:xfrm>
          <a:prstGeom prst="rect">
            <a:avLst/>
          </a:prstGeom>
          <a:noFill/>
        </p:spPr>
        <p:txBody>
          <a:bodyPr wrap="square" rtlCol="0" anchor="ctr"/>
          <a:lstStyle/>
          <a:p>
            <a:pPr marL="0" indent="0" algn="r">
              <a:buNone/>
            </a:pPr>
            <a:r>
              <a:rPr lang="en-US" sz="900" dirty="0">
                <a:solidFill>
                  <a:srgbClr val="5C7078"/>
                </a:solidFill>
                <a:latin typeface="Calibri" panose="020F0502020204030204" pitchFamily="34" charset="0"/>
                <a:ea typeface="Calibri" panose="020F0502020204030204" pitchFamily="34" charset="-122"/>
                <a:cs typeface="Calibri" panose="020F0502020204030204"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p:spPr>
        <p:txBody>
          <a:bodyPr wrap="square" rtlCol="0" anchor="ctr"/>
          <a:lstStyle/>
          <a:p>
            <a:pPr marL="0" indent="0">
              <a:buNone/>
            </a:pPr>
            <a:r>
              <a:rPr lang="en-US" sz="1300" b="1" kern="0" spc="200" dirty="0">
                <a:solidFill>
                  <a:srgbClr val="00A896"/>
                </a:solidFill>
                <a:latin typeface="Calibri" panose="020F0502020204030204" pitchFamily="34" charset="0"/>
                <a:ea typeface="Calibri" panose="020F0502020204030204" pitchFamily="34" charset="-122"/>
                <a:cs typeface="Calibri" panose="020F0502020204030204" pitchFamily="34" charset="-120"/>
              </a:rPr>
              <a:t>DESIGN</a:t>
            </a:r>
            <a:endParaRPr lang="en-US" sz="1300" dirty="0"/>
          </a:p>
        </p:txBody>
      </p:sp>
      <p:sp>
        <p:nvSpPr>
          <p:cNvPr id="3" name="Text 1"/>
          <p:cNvSpPr/>
          <p:nvPr/>
        </p:nvSpPr>
        <p:spPr>
          <a:xfrm>
            <a:off x="548640" y="594360"/>
            <a:ext cx="10789920" cy="640080"/>
          </a:xfrm>
          <a:prstGeom prst="rect">
            <a:avLst/>
          </a:prstGeom>
          <a:noFill/>
        </p:spPr>
        <p:txBody>
          <a:bodyPr wrap="square" rtlCol="0" anchor="ctr"/>
          <a:lstStyle/>
          <a:p>
            <a:pPr marL="0" indent="0">
              <a:buNone/>
            </a:pPr>
            <a:r>
              <a:rPr lang="en-US" sz="3000" b="1" dirty="0">
                <a:solidFill>
                  <a:srgbClr val="0B1F2A"/>
                </a:solidFill>
                <a:latin typeface="Cambria" panose="02040503050406030204" pitchFamily="34" charset="0"/>
                <a:ea typeface="Cambria" panose="02040503050406030204" pitchFamily="34" charset="-122"/>
                <a:cs typeface="Cambria" panose="02040503050406030204" pitchFamily="34" charset="-120"/>
              </a:rPr>
              <a:t>Database Design (medinex_db)</a:t>
            </a:r>
            <a:endParaRPr lang="en-US" sz="3000" dirty="0"/>
          </a:p>
        </p:txBody>
      </p:sp>
      <p:sp>
        <p:nvSpPr>
          <p:cNvPr id="4" name="Shape 2"/>
          <p:cNvSpPr/>
          <p:nvPr/>
        </p:nvSpPr>
        <p:spPr>
          <a:xfrm>
            <a:off x="548640" y="1600200"/>
            <a:ext cx="11064240" cy="749808"/>
          </a:xfrm>
          <a:prstGeom prst="rect">
            <a:avLst/>
          </a:prstGeom>
          <a:solidFill>
            <a:srgbClr val="F4F9F8"/>
          </a:solidFill>
          <a:ln w="9525">
            <a:solidFill>
              <a:srgbClr val="E0E6E7"/>
            </a:solidFill>
            <a:prstDash val="solid"/>
          </a:ln>
        </p:spPr>
      </p:sp>
      <p:sp>
        <p:nvSpPr>
          <p:cNvPr id="5" name="Text 3"/>
          <p:cNvSpPr/>
          <p:nvPr/>
        </p:nvSpPr>
        <p:spPr>
          <a:xfrm>
            <a:off x="777240" y="1600200"/>
            <a:ext cx="2377440" cy="749808"/>
          </a:xfrm>
          <a:prstGeom prst="rect">
            <a:avLst/>
          </a:prstGeom>
          <a:noFill/>
        </p:spPr>
        <p:txBody>
          <a:bodyPr wrap="square" rtlCol="0" anchor="ctr"/>
          <a:lstStyle/>
          <a:p>
            <a:pPr marL="0" indent="0">
              <a:buNone/>
            </a:pPr>
            <a:r>
              <a:rPr lang="en-US" sz="1400" b="1" dirty="0">
                <a:solidFill>
                  <a:srgbClr val="028090"/>
                </a:solidFill>
                <a:latin typeface="Cambria" panose="02040503050406030204" pitchFamily="34" charset="0"/>
                <a:ea typeface="Cambria" panose="02040503050406030204" pitchFamily="34" charset="-122"/>
                <a:cs typeface="Cambria" panose="02040503050406030204" pitchFamily="34" charset="-120"/>
              </a:rPr>
              <a:t>users</a:t>
            </a:r>
            <a:endParaRPr lang="en-US" sz="1400" dirty="0"/>
          </a:p>
        </p:txBody>
      </p:sp>
      <p:sp>
        <p:nvSpPr>
          <p:cNvPr id="6" name="Text 4"/>
          <p:cNvSpPr/>
          <p:nvPr/>
        </p:nvSpPr>
        <p:spPr>
          <a:xfrm>
            <a:off x="3291840" y="1600200"/>
            <a:ext cx="8138160" cy="749808"/>
          </a:xfrm>
          <a:prstGeom prst="rect">
            <a:avLst/>
          </a:prstGeom>
          <a:noFill/>
        </p:spPr>
        <p:txBody>
          <a:bodyPr wrap="square" rtlCol="0" anchor="ctr"/>
          <a:lstStyle/>
          <a:p>
            <a:pPr marL="0" indent="0">
              <a:buNone/>
            </a:pPr>
            <a:r>
              <a:rPr lang="en-US" sz="1150" dirty="0">
                <a:solidFill>
                  <a:srgbClr val="5C7078"/>
                </a:solidFill>
                <a:latin typeface="Calibri" panose="020F0502020204030204" pitchFamily="34" charset="0"/>
                <a:ea typeface="Calibri" panose="020F0502020204030204" pitchFamily="34" charset="-122"/>
                <a:cs typeface="Calibri" panose="020F0502020204030204" pitchFamily="34" charset="-120"/>
              </a:rPr>
              <a:t>id, name, email, role, hospital_id, license_number, approval_status ...</a:t>
            </a:r>
            <a:endParaRPr lang="en-US" sz="1150" dirty="0"/>
          </a:p>
        </p:txBody>
      </p:sp>
      <p:sp>
        <p:nvSpPr>
          <p:cNvPr id="7" name="Shape 5"/>
          <p:cNvSpPr/>
          <p:nvPr/>
        </p:nvSpPr>
        <p:spPr>
          <a:xfrm>
            <a:off x="548640" y="2441448"/>
            <a:ext cx="11064240" cy="749808"/>
          </a:xfrm>
          <a:prstGeom prst="rect">
            <a:avLst/>
          </a:prstGeom>
          <a:solidFill>
            <a:srgbClr val="FFFFFF"/>
          </a:solidFill>
          <a:ln w="9525">
            <a:solidFill>
              <a:srgbClr val="E0E6E7"/>
            </a:solidFill>
            <a:prstDash val="solid"/>
          </a:ln>
        </p:spPr>
      </p:sp>
      <p:sp>
        <p:nvSpPr>
          <p:cNvPr id="8" name="Text 6"/>
          <p:cNvSpPr/>
          <p:nvPr/>
        </p:nvSpPr>
        <p:spPr>
          <a:xfrm>
            <a:off x="777240" y="2441448"/>
            <a:ext cx="2377440" cy="749808"/>
          </a:xfrm>
          <a:prstGeom prst="rect">
            <a:avLst/>
          </a:prstGeom>
          <a:noFill/>
        </p:spPr>
        <p:txBody>
          <a:bodyPr wrap="square" rtlCol="0" anchor="ctr"/>
          <a:lstStyle/>
          <a:p>
            <a:pPr marL="0" indent="0">
              <a:buNone/>
            </a:pPr>
            <a:r>
              <a:rPr lang="en-US" sz="1400" b="1" dirty="0">
                <a:solidFill>
                  <a:srgbClr val="028090"/>
                </a:solidFill>
                <a:latin typeface="Cambria" panose="02040503050406030204" pitchFamily="34" charset="0"/>
                <a:ea typeface="Cambria" panose="02040503050406030204" pitchFamily="34" charset="-122"/>
                <a:cs typeface="Cambria" panose="02040503050406030204" pitchFamily="34" charset="-120"/>
              </a:rPr>
              <a:t>prescriptions</a:t>
            </a:r>
            <a:endParaRPr lang="en-US" sz="1400" dirty="0"/>
          </a:p>
        </p:txBody>
      </p:sp>
      <p:sp>
        <p:nvSpPr>
          <p:cNvPr id="9" name="Text 7"/>
          <p:cNvSpPr/>
          <p:nvPr/>
        </p:nvSpPr>
        <p:spPr>
          <a:xfrm>
            <a:off x="3291840" y="2441448"/>
            <a:ext cx="8138160" cy="749808"/>
          </a:xfrm>
          <a:prstGeom prst="rect">
            <a:avLst/>
          </a:prstGeom>
          <a:noFill/>
        </p:spPr>
        <p:txBody>
          <a:bodyPr wrap="square" rtlCol="0" anchor="ctr"/>
          <a:lstStyle/>
          <a:p>
            <a:pPr marL="0" indent="0">
              <a:buNone/>
            </a:pPr>
            <a:r>
              <a:rPr lang="en-US" sz="1150" dirty="0">
                <a:solidFill>
                  <a:srgbClr val="5C7078"/>
                </a:solidFill>
                <a:latin typeface="Calibri" panose="020F0502020204030204" pitchFamily="34" charset="0"/>
                <a:ea typeface="Calibri" panose="020F0502020204030204" pitchFamily="34" charset="-122"/>
                <a:cs typeface="Calibri" panose="020F0502020204030204" pitchFamily="34" charset="-120"/>
              </a:rPr>
              <a:t>id, patient_id, doctor_id, medicine_name, dosage, status ...</a:t>
            </a:r>
            <a:endParaRPr lang="en-US" sz="1150" dirty="0"/>
          </a:p>
        </p:txBody>
      </p:sp>
      <p:sp>
        <p:nvSpPr>
          <p:cNvPr id="10" name="Shape 8"/>
          <p:cNvSpPr/>
          <p:nvPr/>
        </p:nvSpPr>
        <p:spPr>
          <a:xfrm>
            <a:off x="548640" y="3282696"/>
            <a:ext cx="11064240" cy="749808"/>
          </a:xfrm>
          <a:prstGeom prst="rect">
            <a:avLst/>
          </a:prstGeom>
          <a:solidFill>
            <a:srgbClr val="F4F9F8"/>
          </a:solidFill>
          <a:ln w="9525">
            <a:solidFill>
              <a:srgbClr val="E0E6E7"/>
            </a:solidFill>
            <a:prstDash val="solid"/>
          </a:ln>
        </p:spPr>
      </p:sp>
      <p:sp>
        <p:nvSpPr>
          <p:cNvPr id="11" name="Text 9"/>
          <p:cNvSpPr/>
          <p:nvPr/>
        </p:nvSpPr>
        <p:spPr>
          <a:xfrm>
            <a:off x="777240" y="3282696"/>
            <a:ext cx="2377440" cy="749808"/>
          </a:xfrm>
          <a:prstGeom prst="rect">
            <a:avLst/>
          </a:prstGeom>
          <a:noFill/>
        </p:spPr>
        <p:txBody>
          <a:bodyPr wrap="square" rtlCol="0" anchor="ctr"/>
          <a:lstStyle/>
          <a:p>
            <a:pPr marL="0" indent="0">
              <a:buNone/>
            </a:pPr>
            <a:r>
              <a:rPr lang="en-US" sz="1400" b="1" dirty="0">
                <a:solidFill>
                  <a:srgbClr val="028090"/>
                </a:solidFill>
                <a:latin typeface="Cambria" panose="02040503050406030204" pitchFamily="34" charset="0"/>
                <a:ea typeface="Cambria" panose="02040503050406030204" pitchFamily="34" charset="-122"/>
                <a:cs typeface="Cambria" panose="02040503050406030204" pitchFamily="34" charset="-120"/>
              </a:rPr>
              <a:t>pharmacy_records</a:t>
            </a:r>
            <a:endParaRPr lang="en-US" sz="1400" dirty="0"/>
          </a:p>
        </p:txBody>
      </p:sp>
      <p:sp>
        <p:nvSpPr>
          <p:cNvPr id="12" name="Text 10"/>
          <p:cNvSpPr/>
          <p:nvPr/>
        </p:nvSpPr>
        <p:spPr>
          <a:xfrm>
            <a:off x="3291840" y="3282696"/>
            <a:ext cx="8138160" cy="749808"/>
          </a:xfrm>
          <a:prstGeom prst="rect">
            <a:avLst/>
          </a:prstGeom>
          <a:noFill/>
        </p:spPr>
        <p:txBody>
          <a:bodyPr wrap="square" rtlCol="0" anchor="ctr"/>
          <a:lstStyle/>
          <a:p>
            <a:pPr marL="0" indent="0">
              <a:buNone/>
            </a:pPr>
            <a:r>
              <a:rPr lang="en-US" sz="1150" dirty="0">
                <a:solidFill>
                  <a:srgbClr val="5C7078"/>
                </a:solidFill>
                <a:latin typeface="Calibri" panose="020F0502020204030204" pitchFamily="34" charset="0"/>
                <a:ea typeface="Calibri" panose="020F0502020204030204" pitchFamily="34" charset="-122"/>
                <a:cs typeface="Calibri" panose="020F0502020204030204" pitchFamily="34" charset="-120"/>
              </a:rPr>
              <a:t>id, prescription_id, pharmacist_id, medicines_given, days_supplied</a:t>
            </a:r>
            <a:endParaRPr lang="en-US" sz="1150" dirty="0"/>
          </a:p>
        </p:txBody>
      </p:sp>
      <p:sp>
        <p:nvSpPr>
          <p:cNvPr id="13" name="Shape 11"/>
          <p:cNvSpPr/>
          <p:nvPr/>
        </p:nvSpPr>
        <p:spPr>
          <a:xfrm>
            <a:off x="548640" y="4123944"/>
            <a:ext cx="11064240" cy="749808"/>
          </a:xfrm>
          <a:prstGeom prst="rect">
            <a:avLst/>
          </a:prstGeom>
          <a:solidFill>
            <a:srgbClr val="FFFFFF"/>
          </a:solidFill>
          <a:ln w="9525">
            <a:solidFill>
              <a:srgbClr val="E0E6E7"/>
            </a:solidFill>
            <a:prstDash val="solid"/>
          </a:ln>
        </p:spPr>
      </p:sp>
      <p:sp>
        <p:nvSpPr>
          <p:cNvPr id="14" name="Text 12"/>
          <p:cNvSpPr/>
          <p:nvPr/>
        </p:nvSpPr>
        <p:spPr>
          <a:xfrm>
            <a:off x="777240" y="4123944"/>
            <a:ext cx="2377440" cy="749808"/>
          </a:xfrm>
          <a:prstGeom prst="rect">
            <a:avLst/>
          </a:prstGeom>
          <a:noFill/>
        </p:spPr>
        <p:txBody>
          <a:bodyPr wrap="square" rtlCol="0" anchor="ctr"/>
          <a:lstStyle/>
          <a:p>
            <a:pPr marL="0" indent="0">
              <a:buNone/>
            </a:pPr>
            <a:r>
              <a:rPr lang="en-US" sz="1400" b="1" dirty="0">
                <a:solidFill>
                  <a:srgbClr val="028090"/>
                </a:solidFill>
                <a:latin typeface="Cambria" panose="02040503050406030204" pitchFamily="34" charset="0"/>
                <a:ea typeface="Cambria" panose="02040503050406030204" pitchFamily="34" charset="-122"/>
                <a:cs typeface="Cambria" panose="02040503050406030204" pitchFamily="34" charset="-120"/>
              </a:rPr>
              <a:t>lab_reports</a:t>
            </a:r>
            <a:endParaRPr lang="en-US" sz="1400" dirty="0"/>
          </a:p>
        </p:txBody>
      </p:sp>
      <p:sp>
        <p:nvSpPr>
          <p:cNvPr id="15" name="Text 13"/>
          <p:cNvSpPr/>
          <p:nvPr/>
        </p:nvSpPr>
        <p:spPr>
          <a:xfrm>
            <a:off x="3291840" y="4123944"/>
            <a:ext cx="8138160" cy="749808"/>
          </a:xfrm>
          <a:prstGeom prst="rect">
            <a:avLst/>
          </a:prstGeom>
          <a:noFill/>
        </p:spPr>
        <p:txBody>
          <a:bodyPr wrap="square" rtlCol="0" anchor="ctr"/>
          <a:lstStyle/>
          <a:p>
            <a:pPr marL="0" indent="0">
              <a:buNone/>
            </a:pPr>
            <a:r>
              <a:rPr lang="en-US" sz="1150" dirty="0">
                <a:solidFill>
                  <a:srgbClr val="5C7078"/>
                </a:solidFill>
                <a:latin typeface="Calibri" panose="020F0502020204030204" pitchFamily="34" charset="0"/>
                <a:ea typeface="Calibri" panose="020F0502020204030204" pitchFamily="34" charset="-122"/>
                <a:cs typeface="Calibri" panose="020F0502020204030204" pitchFamily="34" charset="-120"/>
              </a:rPr>
              <a:t>id, patient_id, file_name, file_path, uploaded_at</a:t>
            </a:r>
            <a:endParaRPr lang="en-US" sz="1150" dirty="0"/>
          </a:p>
        </p:txBody>
      </p:sp>
      <p:sp>
        <p:nvSpPr>
          <p:cNvPr id="16" name="Shape 14"/>
          <p:cNvSpPr/>
          <p:nvPr/>
        </p:nvSpPr>
        <p:spPr>
          <a:xfrm>
            <a:off x="548640" y="4965192"/>
            <a:ext cx="11064240" cy="749808"/>
          </a:xfrm>
          <a:prstGeom prst="rect">
            <a:avLst/>
          </a:prstGeom>
          <a:solidFill>
            <a:srgbClr val="F4F9F8"/>
          </a:solidFill>
          <a:ln w="9525">
            <a:solidFill>
              <a:srgbClr val="E0E6E7"/>
            </a:solidFill>
            <a:prstDash val="solid"/>
          </a:ln>
        </p:spPr>
      </p:sp>
      <p:sp>
        <p:nvSpPr>
          <p:cNvPr id="17" name="Text 15"/>
          <p:cNvSpPr/>
          <p:nvPr/>
        </p:nvSpPr>
        <p:spPr>
          <a:xfrm>
            <a:off x="777240" y="4965192"/>
            <a:ext cx="2377440" cy="749808"/>
          </a:xfrm>
          <a:prstGeom prst="rect">
            <a:avLst/>
          </a:prstGeom>
          <a:noFill/>
        </p:spPr>
        <p:txBody>
          <a:bodyPr wrap="square" rtlCol="0" anchor="ctr"/>
          <a:lstStyle/>
          <a:p>
            <a:pPr marL="0" indent="0">
              <a:buNone/>
            </a:pPr>
            <a:r>
              <a:rPr lang="en-US" sz="1400" b="1" dirty="0">
                <a:solidFill>
                  <a:srgbClr val="028090"/>
                </a:solidFill>
                <a:latin typeface="Cambria" panose="02040503050406030204" pitchFamily="34" charset="0"/>
                <a:ea typeface="Cambria" panose="02040503050406030204" pitchFamily="34" charset="-122"/>
                <a:cs typeface="Cambria" panose="02040503050406030204" pitchFamily="34" charset="-120"/>
              </a:rPr>
              <a:t>complaints</a:t>
            </a:r>
            <a:endParaRPr lang="en-US" sz="1400" dirty="0"/>
          </a:p>
        </p:txBody>
      </p:sp>
      <p:sp>
        <p:nvSpPr>
          <p:cNvPr id="18" name="Text 16"/>
          <p:cNvSpPr/>
          <p:nvPr/>
        </p:nvSpPr>
        <p:spPr>
          <a:xfrm>
            <a:off x="3291840" y="4965192"/>
            <a:ext cx="8138160" cy="749808"/>
          </a:xfrm>
          <a:prstGeom prst="rect">
            <a:avLst/>
          </a:prstGeom>
          <a:noFill/>
        </p:spPr>
        <p:txBody>
          <a:bodyPr wrap="square" rtlCol="0" anchor="ctr"/>
          <a:lstStyle/>
          <a:p>
            <a:pPr marL="0" indent="0">
              <a:buNone/>
            </a:pPr>
            <a:r>
              <a:rPr lang="en-US" sz="1150" dirty="0">
                <a:solidFill>
                  <a:srgbClr val="5C7078"/>
                </a:solidFill>
                <a:latin typeface="Calibri" panose="020F0502020204030204" pitchFamily="34" charset="0"/>
                <a:ea typeface="Calibri" panose="020F0502020204030204" pitchFamily="34" charset="-122"/>
                <a:cs typeface="Calibri" panose="020F0502020204030204" pitchFamily="34" charset="-120"/>
              </a:rPr>
              <a:t>id, hospital_id, patient_id, doctor_name, complaint_text, status</a:t>
            </a:r>
            <a:endParaRPr lang="en-US" sz="1150" dirty="0"/>
          </a:p>
        </p:txBody>
      </p:sp>
      <p:sp>
        <p:nvSpPr>
          <p:cNvPr id="19" name="Text 17"/>
          <p:cNvSpPr/>
          <p:nvPr/>
        </p:nvSpPr>
        <p:spPr>
          <a:xfrm>
            <a:off x="548640" y="5989320"/>
            <a:ext cx="11064240" cy="457200"/>
          </a:xfrm>
          <a:prstGeom prst="rect">
            <a:avLst/>
          </a:prstGeom>
          <a:noFill/>
        </p:spPr>
        <p:txBody>
          <a:bodyPr wrap="square" rtlCol="0" anchor="ctr"/>
          <a:lstStyle/>
          <a:p>
            <a:pPr marL="0" indent="0">
              <a:buNone/>
            </a:pPr>
            <a:r>
              <a:rPr lang="en-US" sz="1200" i="1" dirty="0">
                <a:solidFill>
                  <a:srgbClr val="5C7078"/>
                </a:solidFill>
                <a:latin typeface="Calibri" panose="020F0502020204030204" pitchFamily="34" charset="0"/>
                <a:ea typeface="Calibri" panose="020F0502020204030204" pitchFamily="34" charset="-122"/>
                <a:cs typeface="Calibri" panose="020F0502020204030204" pitchFamily="34" charset="-120"/>
              </a:rPr>
              <a:t>21 tables in total, normalised to 3NF, with foreign-key relationships linking users → hospitals → prescriptions → pharmacy dispensing.</a:t>
            </a:r>
            <a:endParaRPr lang="en-US" sz="1200" dirty="0"/>
          </a:p>
        </p:txBody>
      </p:sp>
      <p:sp>
        <p:nvSpPr>
          <p:cNvPr id="20" name="Text 18"/>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5C7078"/>
                </a:solidFill>
                <a:latin typeface="Calibri" panose="020F0502020204030204" pitchFamily="34" charset="0"/>
                <a:ea typeface="Calibri" panose="020F0502020204030204" pitchFamily="34" charset="-122"/>
                <a:cs typeface="Calibri" panose="020F0502020204030204" pitchFamily="34" charset="-120"/>
              </a:rPr>
              <a:t>MEDINEX — Mini Project 2 — Review 1</a:t>
            </a:r>
            <a:endParaRPr lang="en-US" sz="900" dirty="0"/>
          </a:p>
        </p:txBody>
      </p:sp>
      <p:sp>
        <p:nvSpPr>
          <p:cNvPr id="21" name="Text 19"/>
          <p:cNvSpPr/>
          <p:nvPr/>
        </p:nvSpPr>
        <p:spPr>
          <a:xfrm>
            <a:off x="11521440" y="6537960"/>
            <a:ext cx="457200" cy="274320"/>
          </a:xfrm>
          <a:prstGeom prst="rect">
            <a:avLst/>
          </a:prstGeom>
          <a:noFill/>
        </p:spPr>
        <p:txBody>
          <a:bodyPr wrap="square" rtlCol="0" anchor="ctr"/>
          <a:lstStyle/>
          <a:p>
            <a:pPr marL="0" indent="0" algn="r">
              <a:buNone/>
            </a:pPr>
            <a:r>
              <a:rPr lang="en-US" sz="900" dirty="0">
                <a:solidFill>
                  <a:srgbClr val="5C7078"/>
                </a:solidFill>
                <a:latin typeface="Calibri" panose="020F0502020204030204" pitchFamily="34" charset="0"/>
                <a:ea typeface="Calibri" panose="020F0502020204030204" pitchFamily="34" charset="-122"/>
                <a:cs typeface="Calibri" panose="020F0502020204030204"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p:spPr>
        <p:txBody>
          <a:bodyPr wrap="square" rtlCol="0" anchor="ctr"/>
          <a:lstStyle/>
          <a:p>
            <a:pPr marL="0" indent="0">
              <a:buNone/>
            </a:pPr>
            <a:r>
              <a:rPr lang="en-US" sz="1300" b="1" kern="0" spc="200" dirty="0">
                <a:solidFill>
                  <a:srgbClr val="00A896"/>
                </a:solidFill>
                <a:latin typeface="Calibri" panose="020F0502020204030204" pitchFamily="34" charset="0"/>
                <a:ea typeface="Calibri" panose="020F0502020204030204" pitchFamily="34" charset="-122"/>
                <a:cs typeface="Calibri" panose="020F0502020204030204" pitchFamily="34" charset="-120"/>
              </a:rPr>
              <a:t>DESIGN</a:t>
            </a:r>
            <a:endParaRPr lang="en-US" sz="1300" dirty="0"/>
          </a:p>
        </p:txBody>
      </p:sp>
      <p:sp>
        <p:nvSpPr>
          <p:cNvPr id="3" name="Text 1"/>
          <p:cNvSpPr/>
          <p:nvPr/>
        </p:nvSpPr>
        <p:spPr>
          <a:xfrm>
            <a:off x="548640" y="594360"/>
            <a:ext cx="10789920" cy="640080"/>
          </a:xfrm>
          <a:prstGeom prst="rect">
            <a:avLst/>
          </a:prstGeom>
          <a:noFill/>
        </p:spPr>
        <p:txBody>
          <a:bodyPr wrap="square" rtlCol="0" anchor="ctr"/>
          <a:lstStyle/>
          <a:p>
            <a:pPr marL="0" indent="0">
              <a:buNone/>
            </a:pPr>
            <a:r>
              <a:rPr lang="en-US" sz="3000" b="1" dirty="0">
                <a:solidFill>
                  <a:srgbClr val="0B1F2A"/>
                </a:solidFill>
                <a:latin typeface="Cambria" panose="02040503050406030204" pitchFamily="34" charset="0"/>
                <a:ea typeface="Cambria" panose="02040503050406030204" pitchFamily="34" charset="-122"/>
                <a:cs typeface="Cambria" panose="02040503050406030204" pitchFamily="34" charset="-120"/>
              </a:rPr>
              <a:t>UI Design</a:t>
            </a:r>
            <a:endParaRPr lang="en-US" sz="3000" dirty="0"/>
          </a:p>
        </p:txBody>
      </p:sp>
      <p:sp>
        <p:nvSpPr>
          <p:cNvPr id="4" name="Shape 2"/>
          <p:cNvSpPr/>
          <p:nvPr/>
        </p:nvSpPr>
        <p:spPr>
          <a:xfrm>
            <a:off x="548640" y="1600200"/>
            <a:ext cx="3535680" cy="1965960"/>
          </a:xfrm>
          <a:prstGeom prst="roundRect">
            <a:avLst>
              <a:gd name="adj" fmla="val 3256"/>
            </a:avLst>
          </a:prstGeom>
          <a:solidFill>
            <a:srgbClr val="F4F9F8"/>
          </a:solidFill>
          <a:ln w="12700">
            <a:solidFill>
              <a:srgbClr val="D7E4E2"/>
            </a:solidFill>
            <a:prstDash val="solid"/>
          </a:ln>
        </p:spPr>
      </p:sp>
      <p:sp>
        <p:nvSpPr>
          <p:cNvPr id="5" name="Shape 3"/>
          <p:cNvSpPr/>
          <p:nvPr/>
        </p:nvSpPr>
        <p:spPr>
          <a:xfrm>
            <a:off x="548640" y="1600200"/>
            <a:ext cx="91440" cy="1965960"/>
          </a:xfrm>
          <a:prstGeom prst="rect">
            <a:avLst/>
          </a:prstGeom>
          <a:solidFill>
            <a:srgbClr val="028090"/>
          </a:solidFill>
        </p:spPr>
      </p:sp>
      <p:sp>
        <p:nvSpPr>
          <p:cNvPr id="6" name="Text 4"/>
          <p:cNvSpPr/>
          <p:nvPr/>
        </p:nvSpPr>
        <p:spPr>
          <a:xfrm>
            <a:off x="822960" y="1764792"/>
            <a:ext cx="3078480" cy="365760"/>
          </a:xfrm>
          <a:prstGeom prst="rect">
            <a:avLst/>
          </a:prstGeom>
          <a:noFill/>
        </p:spPr>
        <p:txBody>
          <a:bodyPr wrap="square" rtlCol="0" anchor="ctr"/>
          <a:lstStyle/>
          <a:p>
            <a:pPr marL="0" indent="0">
              <a:buNone/>
            </a:pPr>
            <a:r>
              <a:rPr lang="en-US" sz="1400" b="1" dirty="0">
                <a:solidFill>
                  <a:srgbClr val="0B1F2A"/>
                </a:solidFill>
                <a:latin typeface="Cambria" panose="02040503050406030204" pitchFamily="34" charset="0"/>
                <a:ea typeface="Cambria" panose="02040503050406030204" pitchFamily="34" charset="-122"/>
                <a:cs typeface="Cambria" panose="02040503050406030204" pitchFamily="34" charset="-120"/>
              </a:rPr>
              <a:t>Auth</a:t>
            </a:r>
            <a:endParaRPr lang="en-US" sz="1400" dirty="0"/>
          </a:p>
        </p:txBody>
      </p:sp>
      <p:sp>
        <p:nvSpPr>
          <p:cNvPr id="7" name="Text 5"/>
          <p:cNvSpPr/>
          <p:nvPr/>
        </p:nvSpPr>
        <p:spPr>
          <a:xfrm>
            <a:off x="822960" y="2194560"/>
            <a:ext cx="3078480" cy="1234440"/>
          </a:xfrm>
          <a:prstGeom prst="rect">
            <a:avLst/>
          </a:prstGeom>
          <a:noFill/>
        </p:spPr>
        <p:txBody>
          <a:bodyPr wrap="square" rtlCol="0" anchor="ctr"/>
          <a:lstStyle/>
          <a:p>
            <a:pPr marL="0" indent="0">
              <a:lnSpc>
                <a:spcPts val="1500"/>
              </a:lnSpc>
              <a:buNone/>
            </a:pPr>
            <a:r>
              <a:rPr lang="en-US" sz="1100" dirty="0">
                <a:solidFill>
                  <a:srgbClr val="5C7078"/>
                </a:solidFill>
                <a:latin typeface="Calibri" panose="020F0502020204030204" pitchFamily="34" charset="0"/>
                <a:ea typeface="Calibri" panose="020F0502020204030204" pitchFamily="34" charset="-122"/>
                <a:cs typeface="Calibri" panose="020F0502020204030204" pitchFamily="34" charset="-120"/>
              </a:rPr>
              <a:t>Login, Register, Forgot / Reset Password</a:t>
            </a:r>
            <a:endParaRPr lang="en-US" sz="1100" dirty="0"/>
          </a:p>
        </p:txBody>
      </p:sp>
      <p:sp>
        <p:nvSpPr>
          <p:cNvPr id="8" name="Shape 6"/>
          <p:cNvSpPr/>
          <p:nvPr/>
        </p:nvSpPr>
        <p:spPr>
          <a:xfrm>
            <a:off x="4312920" y="1600200"/>
            <a:ext cx="3535680" cy="1965960"/>
          </a:xfrm>
          <a:prstGeom prst="roundRect">
            <a:avLst>
              <a:gd name="adj" fmla="val 3256"/>
            </a:avLst>
          </a:prstGeom>
          <a:solidFill>
            <a:srgbClr val="F4F9F8"/>
          </a:solidFill>
          <a:ln w="12700">
            <a:solidFill>
              <a:srgbClr val="D7E4E2"/>
            </a:solidFill>
            <a:prstDash val="solid"/>
          </a:ln>
        </p:spPr>
      </p:sp>
      <p:sp>
        <p:nvSpPr>
          <p:cNvPr id="9" name="Shape 7"/>
          <p:cNvSpPr/>
          <p:nvPr/>
        </p:nvSpPr>
        <p:spPr>
          <a:xfrm>
            <a:off x="4312920" y="1600200"/>
            <a:ext cx="91440" cy="1965960"/>
          </a:xfrm>
          <a:prstGeom prst="rect">
            <a:avLst/>
          </a:prstGeom>
          <a:solidFill>
            <a:srgbClr val="00A896"/>
          </a:solidFill>
        </p:spPr>
      </p:sp>
      <p:sp>
        <p:nvSpPr>
          <p:cNvPr id="10" name="Text 8"/>
          <p:cNvSpPr/>
          <p:nvPr/>
        </p:nvSpPr>
        <p:spPr>
          <a:xfrm>
            <a:off x="4587240" y="1764792"/>
            <a:ext cx="3078480" cy="365760"/>
          </a:xfrm>
          <a:prstGeom prst="rect">
            <a:avLst/>
          </a:prstGeom>
          <a:noFill/>
        </p:spPr>
        <p:txBody>
          <a:bodyPr wrap="square" rtlCol="0" anchor="ctr"/>
          <a:lstStyle/>
          <a:p>
            <a:pPr marL="0" indent="0">
              <a:buNone/>
            </a:pPr>
            <a:r>
              <a:rPr lang="en-US" sz="1400" b="1" dirty="0">
                <a:solidFill>
                  <a:srgbClr val="0B1F2A"/>
                </a:solidFill>
                <a:latin typeface="Cambria" panose="02040503050406030204" pitchFamily="34" charset="0"/>
                <a:ea typeface="Cambria" panose="02040503050406030204" pitchFamily="34" charset="-122"/>
                <a:cs typeface="Cambria" panose="02040503050406030204" pitchFamily="34" charset="-120"/>
              </a:rPr>
              <a:t>Patient Dashboard</a:t>
            </a:r>
            <a:endParaRPr lang="en-US" sz="1400" dirty="0"/>
          </a:p>
        </p:txBody>
      </p:sp>
      <p:sp>
        <p:nvSpPr>
          <p:cNvPr id="11" name="Text 9"/>
          <p:cNvSpPr/>
          <p:nvPr/>
        </p:nvSpPr>
        <p:spPr>
          <a:xfrm>
            <a:off x="4587240" y="2194560"/>
            <a:ext cx="3078480" cy="1234440"/>
          </a:xfrm>
          <a:prstGeom prst="rect">
            <a:avLst/>
          </a:prstGeom>
          <a:noFill/>
        </p:spPr>
        <p:txBody>
          <a:bodyPr wrap="square" rtlCol="0" anchor="ctr"/>
          <a:lstStyle/>
          <a:p>
            <a:pPr marL="0" indent="0">
              <a:lnSpc>
                <a:spcPts val="1500"/>
              </a:lnSpc>
              <a:buNone/>
            </a:pPr>
            <a:r>
              <a:rPr lang="en-US" sz="1100" dirty="0">
                <a:solidFill>
                  <a:srgbClr val="5C7078"/>
                </a:solidFill>
                <a:latin typeface="Calibri" panose="020F0502020204030204" pitchFamily="34" charset="0"/>
                <a:ea typeface="Calibri" panose="020F0502020204030204" pitchFamily="34" charset="-122"/>
                <a:cs typeface="Calibri" panose="020F0502020204030204" pitchFamily="34" charset="-120"/>
              </a:rPr>
              <a:t>View reports, chat with AI assistant, upload reports, raise complaints</a:t>
            </a:r>
            <a:endParaRPr lang="en-US" sz="1100" dirty="0"/>
          </a:p>
        </p:txBody>
      </p:sp>
      <p:sp>
        <p:nvSpPr>
          <p:cNvPr id="12" name="Shape 10"/>
          <p:cNvSpPr/>
          <p:nvPr/>
        </p:nvSpPr>
        <p:spPr>
          <a:xfrm>
            <a:off x="8077200" y="1600200"/>
            <a:ext cx="3535680" cy="1965960"/>
          </a:xfrm>
          <a:prstGeom prst="roundRect">
            <a:avLst>
              <a:gd name="adj" fmla="val 3256"/>
            </a:avLst>
          </a:prstGeom>
          <a:solidFill>
            <a:srgbClr val="F4F9F8"/>
          </a:solidFill>
          <a:ln w="12700">
            <a:solidFill>
              <a:srgbClr val="D7E4E2"/>
            </a:solidFill>
            <a:prstDash val="solid"/>
          </a:ln>
        </p:spPr>
      </p:sp>
      <p:sp>
        <p:nvSpPr>
          <p:cNvPr id="13" name="Shape 11"/>
          <p:cNvSpPr/>
          <p:nvPr/>
        </p:nvSpPr>
        <p:spPr>
          <a:xfrm>
            <a:off x="8077200" y="1600200"/>
            <a:ext cx="91440" cy="1965960"/>
          </a:xfrm>
          <a:prstGeom prst="rect">
            <a:avLst/>
          </a:prstGeom>
          <a:solidFill>
            <a:srgbClr val="02C39A"/>
          </a:solidFill>
        </p:spPr>
      </p:sp>
      <p:sp>
        <p:nvSpPr>
          <p:cNvPr id="14" name="Text 12"/>
          <p:cNvSpPr/>
          <p:nvPr/>
        </p:nvSpPr>
        <p:spPr>
          <a:xfrm>
            <a:off x="8351520" y="1764792"/>
            <a:ext cx="3078480" cy="365760"/>
          </a:xfrm>
          <a:prstGeom prst="rect">
            <a:avLst/>
          </a:prstGeom>
          <a:noFill/>
        </p:spPr>
        <p:txBody>
          <a:bodyPr wrap="square" rtlCol="0" anchor="ctr"/>
          <a:lstStyle/>
          <a:p>
            <a:pPr marL="0" indent="0">
              <a:buNone/>
            </a:pPr>
            <a:r>
              <a:rPr lang="en-US" sz="1400" b="1" dirty="0">
                <a:solidFill>
                  <a:srgbClr val="0B1F2A"/>
                </a:solidFill>
                <a:latin typeface="Cambria" panose="02040503050406030204" pitchFamily="34" charset="0"/>
                <a:ea typeface="Cambria" panose="02040503050406030204" pitchFamily="34" charset="-122"/>
                <a:cs typeface="Cambria" panose="02040503050406030204" pitchFamily="34" charset="-120"/>
              </a:rPr>
              <a:t>Doctor Dashboard</a:t>
            </a:r>
            <a:endParaRPr lang="en-US" sz="1400" dirty="0"/>
          </a:p>
        </p:txBody>
      </p:sp>
      <p:sp>
        <p:nvSpPr>
          <p:cNvPr id="15" name="Text 13"/>
          <p:cNvSpPr/>
          <p:nvPr/>
        </p:nvSpPr>
        <p:spPr>
          <a:xfrm>
            <a:off x="8351520" y="2194560"/>
            <a:ext cx="3078480" cy="1234440"/>
          </a:xfrm>
          <a:prstGeom prst="rect">
            <a:avLst/>
          </a:prstGeom>
          <a:noFill/>
        </p:spPr>
        <p:txBody>
          <a:bodyPr wrap="square" rtlCol="0" anchor="ctr"/>
          <a:lstStyle/>
          <a:p>
            <a:pPr marL="0" indent="0">
              <a:lnSpc>
                <a:spcPts val="1500"/>
              </a:lnSpc>
              <a:buNone/>
            </a:pPr>
            <a:r>
              <a:rPr lang="en-US" sz="1100" dirty="0">
                <a:solidFill>
                  <a:srgbClr val="5C7078"/>
                </a:solidFill>
                <a:latin typeface="Calibri" panose="020F0502020204030204" pitchFamily="34" charset="0"/>
                <a:ea typeface="Calibri" panose="020F0502020204030204" pitchFamily="34" charset="-122"/>
                <a:cs typeface="Calibri" panose="020F0502020204030204" pitchFamily="34" charset="-120"/>
              </a:rPr>
              <a:t>View &amp; edit prescriptions, view patient reports</a:t>
            </a:r>
            <a:endParaRPr lang="en-US" sz="1100" dirty="0"/>
          </a:p>
        </p:txBody>
      </p:sp>
      <p:sp>
        <p:nvSpPr>
          <p:cNvPr id="16" name="Shape 14"/>
          <p:cNvSpPr/>
          <p:nvPr/>
        </p:nvSpPr>
        <p:spPr>
          <a:xfrm>
            <a:off x="548640" y="3794760"/>
            <a:ext cx="3535680" cy="1965960"/>
          </a:xfrm>
          <a:prstGeom prst="roundRect">
            <a:avLst>
              <a:gd name="adj" fmla="val 3256"/>
            </a:avLst>
          </a:prstGeom>
          <a:solidFill>
            <a:srgbClr val="F4F9F8"/>
          </a:solidFill>
          <a:ln w="12700">
            <a:solidFill>
              <a:srgbClr val="D7E4E2"/>
            </a:solidFill>
            <a:prstDash val="solid"/>
          </a:ln>
        </p:spPr>
      </p:sp>
      <p:sp>
        <p:nvSpPr>
          <p:cNvPr id="17" name="Shape 15"/>
          <p:cNvSpPr/>
          <p:nvPr/>
        </p:nvSpPr>
        <p:spPr>
          <a:xfrm>
            <a:off x="548640" y="3794760"/>
            <a:ext cx="91440" cy="1965960"/>
          </a:xfrm>
          <a:prstGeom prst="rect">
            <a:avLst/>
          </a:prstGeom>
          <a:solidFill>
            <a:srgbClr val="028090"/>
          </a:solidFill>
        </p:spPr>
      </p:sp>
      <p:sp>
        <p:nvSpPr>
          <p:cNvPr id="18" name="Text 16"/>
          <p:cNvSpPr/>
          <p:nvPr/>
        </p:nvSpPr>
        <p:spPr>
          <a:xfrm>
            <a:off x="822960" y="3959352"/>
            <a:ext cx="3078480" cy="365760"/>
          </a:xfrm>
          <a:prstGeom prst="rect">
            <a:avLst/>
          </a:prstGeom>
          <a:noFill/>
        </p:spPr>
        <p:txBody>
          <a:bodyPr wrap="square" rtlCol="0" anchor="ctr"/>
          <a:lstStyle/>
          <a:p>
            <a:pPr marL="0" indent="0">
              <a:buNone/>
            </a:pPr>
            <a:r>
              <a:rPr lang="en-US" sz="1400" b="1" dirty="0">
                <a:solidFill>
                  <a:srgbClr val="0B1F2A"/>
                </a:solidFill>
                <a:latin typeface="Cambria" panose="02040503050406030204" pitchFamily="34" charset="0"/>
                <a:ea typeface="Cambria" panose="02040503050406030204" pitchFamily="34" charset="-122"/>
                <a:cs typeface="Cambria" panose="02040503050406030204" pitchFamily="34" charset="-120"/>
              </a:rPr>
              <a:t>Pharmacist Dashboard</a:t>
            </a:r>
            <a:endParaRPr lang="en-US" sz="1400" dirty="0"/>
          </a:p>
        </p:txBody>
      </p:sp>
      <p:sp>
        <p:nvSpPr>
          <p:cNvPr id="19" name="Text 17"/>
          <p:cNvSpPr/>
          <p:nvPr/>
        </p:nvSpPr>
        <p:spPr>
          <a:xfrm>
            <a:off x="822960" y="4389120"/>
            <a:ext cx="3078480" cy="1234440"/>
          </a:xfrm>
          <a:prstGeom prst="rect">
            <a:avLst/>
          </a:prstGeom>
          <a:noFill/>
        </p:spPr>
        <p:txBody>
          <a:bodyPr wrap="square" rtlCol="0" anchor="ctr"/>
          <a:lstStyle/>
          <a:p>
            <a:pPr marL="0" indent="0">
              <a:lnSpc>
                <a:spcPts val="1500"/>
              </a:lnSpc>
              <a:buNone/>
            </a:pPr>
            <a:r>
              <a:rPr lang="en-US" sz="1100" dirty="0">
                <a:solidFill>
                  <a:srgbClr val="5C7078"/>
                </a:solidFill>
                <a:latin typeface="Calibri" panose="020F0502020204030204" pitchFamily="34" charset="0"/>
                <a:ea typeface="Calibri" panose="020F0502020204030204" pitchFamily="34" charset="-122"/>
                <a:cs typeface="Calibri" panose="020F0502020204030204" pitchFamily="34" charset="-120"/>
              </a:rPr>
              <a:t>Verify &amp; dispense prescription, mark as dispensed</a:t>
            </a:r>
            <a:endParaRPr lang="en-US" sz="1100" dirty="0"/>
          </a:p>
        </p:txBody>
      </p:sp>
      <p:sp>
        <p:nvSpPr>
          <p:cNvPr id="20" name="Shape 18"/>
          <p:cNvSpPr/>
          <p:nvPr/>
        </p:nvSpPr>
        <p:spPr>
          <a:xfrm>
            <a:off x="4312920" y="3794760"/>
            <a:ext cx="3535680" cy="1965960"/>
          </a:xfrm>
          <a:prstGeom prst="roundRect">
            <a:avLst>
              <a:gd name="adj" fmla="val 3256"/>
            </a:avLst>
          </a:prstGeom>
          <a:solidFill>
            <a:srgbClr val="F4F9F8"/>
          </a:solidFill>
          <a:ln w="12700">
            <a:solidFill>
              <a:srgbClr val="D7E4E2"/>
            </a:solidFill>
            <a:prstDash val="solid"/>
          </a:ln>
        </p:spPr>
      </p:sp>
      <p:sp>
        <p:nvSpPr>
          <p:cNvPr id="21" name="Shape 19"/>
          <p:cNvSpPr/>
          <p:nvPr/>
        </p:nvSpPr>
        <p:spPr>
          <a:xfrm>
            <a:off x="4312920" y="3794760"/>
            <a:ext cx="91440" cy="1965960"/>
          </a:xfrm>
          <a:prstGeom prst="rect">
            <a:avLst/>
          </a:prstGeom>
          <a:solidFill>
            <a:srgbClr val="00A896"/>
          </a:solidFill>
        </p:spPr>
      </p:sp>
      <p:sp>
        <p:nvSpPr>
          <p:cNvPr id="22" name="Text 20"/>
          <p:cNvSpPr/>
          <p:nvPr/>
        </p:nvSpPr>
        <p:spPr>
          <a:xfrm>
            <a:off x="4587240" y="3959352"/>
            <a:ext cx="3078480" cy="365760"/>
          </a:xfrm>
          <a:prstGeom prst="rect">
            <a:avLst/>
          </a:prstGeom>
          <a:noFill/>
        </p:spPr>
        <p:txBody>
          <a:bodyPr wrap="square" rtlCol="0" anchor="ctr"/>
          <a:lstStyle/>
          <a:p>
            <a:pPr marL="0" indent="0">
              <a:buNone/>
            </a:pPr>
            <a:r>
              <a:rPr lang="en-US" sz="1400" b="1" dirty="0">
                <a:solidFill>
                  <a:srgbClr val="0B1F2A"/>
                </a:solidFill>
                <a:latin typeface="Cambria" panose="02040503050406030204" pitchFamily="34" charset="0"/>
                <a:ea typeface="Cambria" panose="02040503050406030204" pitchFamily="34" charset="-122"/>
                <a:cs typeface="Cambria" panose="02040503050406030204" pitchFamily="34" charset="-120"/>
              </a:rPr>
              <a:t>Hospital Dashboard</a:t>
            </a:r>
            <a:endParaRPr lang="en-US" sz="1400" dirty="0"/>
          </a:p>
        </p:txBody>
      </p:sp>
      <p:sp>
        <p:nvSpPr>
          <p:cNvPr id="23" name="Text 21"/>
          <p:cNvSpPr/>
          <p:nvPr/>
        </p:nvSpPr>
        <p:spPr>
          <a:xfrm>
            <a:off x="4587240" y="4389120"/>
            <a:ext cx="3078480" cy="1234440"/>
          </a:xfrm>
          <a:prstGeom prst="rect">
            <a:avLst/>
          </a:prstGeom>
          <a:noFill/>
        </p:spPr>
        <p:txBody>
          <a:bodyPr wrap="square" rtlCol="0" anchor="ctr"/>
          <a:lstStyle/>
          <a:p>
            <a:pPr marL="0" indent="0">
              <a:lnSpc>
                <a:spcPts val="1500"/>
              </a:lnSpc>
              <a:buNone/>
            </a:pPr>
            <a:r>
              <a:rPr lang="en-US" sz="1100" dirty="0">
                <a:solidFill>
                  <a:srgbClr val="5C7078"/>
                </a:solidFill>
                <a:latin typeface="Calibri" panose="020F0502020204030204" pitchFamily="34" charset="0"/>
                <a:ea typeface="Calibri" panose="020F0502020204030204" pitchFamily="34" charset="-122"/>
                <a:cs typeface="Calibri" panose="020F0502020204030204" pitchFamily="34" charset="-120"/>
              </a:rPr>
              <a:t>Add / remove doctors, manage doctor complaints</a:t>
            </a:r>
            <a:endParaRPr lang="en-US" sz="1100" dirty="0"/>
          </a:p>
        </p:txBody>
      </p:sp>
      <p:sp>
        <p:nvSpPr>
          <p:cNvPr id="24" name="Shape 22"/>
          <p:cNvSpPr/>
          <p:nvPr/>
        </p:nvSpPr>
        <p:spPr>
          <a:xfrm>
            <a:off x="8077200" y="3794760"/>
            <a:ext cx="3535680" cy="1965960"/>
          </a:xfrm>
          <a:prstGeom prst="roundRect">
            <a:avLst>
              <a:gd name="adj" fmla="val 3256"/>
            </a:avLst>
          </a:prstGeom>
          <a:solidFill>
            <a:srgbClr val="F4F9F8"/>
          </a:solidFill>
          <a:ln w="12700">
            <a:solidFill>
              <a:srgbClr val="D7E4E2"/>
            </a:solidFill>
            <a:prstDash val="solid"/>
          </a:ln>
        </p:spPr>
      </p:sp>
      <p:sp>
        <p:nvSpPr>
          <p:cNvPr id="25" name="Shape 23"/>
          <p:cNvSpPr/>
          <p:nvPr/>
        </p:nvSpPr>
        <p:spPr>
          <a:xfrm>
            <a:off x="8077200" y="3794760"/>
            <a:ext cx="91440" cy="1965960"/>
          </a:xfrm>
          <a:prstGeom prst="rect">
            <a:avLst/>
          </a:prstGeom>
          <a:solidFill>
            <a:srgbClr val="02C39A"/>
          </a:solidFill>
        </p:spPr>
      </p:sp>
      <p:sp>
        <p:nvSpPr>
          <p:cNvPr id="26" name="Text 24"/>
          <p:cNvSpPr/>
          <p:nvPr/>
        </p:nvSpPr>
        <p:spPr>
          <a:xfrm>
            <a:off x="8351520" y="3959352"/>
            <a:ext cx="3078480" cy="365760"/>
          </a:xfrm>
          <a:prstGeom prst="rect">
            <a:avLst/>
          </a:prstGeom>
          <a:noFill/>
        </p:spPr>
        <p:txBody>
          <a:bodyPr wrap="square" rtlCol="0" anchor="ctr"/>
          <a:lstStyle/>
          <a:p>
            <a:pPr marL="0" indent="0">
              <a:buNone/>
            </a:pPr>
            <a:r>
              <a:rPr lang="en-US" sz="1400" b="1" dirty="0">
                <a:solidFill>
                  <a:srgbClr val="0B1F2A"/>
                </a:solidFill>
                <a:latin typeface="Cambria" panose="02040503050406030204" pitchFamily="34" charset="0"/>
                <a:ea typeface="Cambria" panose="02040503050406030204" pitchFamily="34" charset="-122"/>
                <a:cs typeface="Cambria" panose="02040503050406030204" pitchFamily="34" charset="-120"/>
              </a:rPr>
              <a:t>Admin Dashboard</a:t>
            </a:r>
            <a:endParaRPr lang="en-US" sz="1400" dirty="0"/>
          </a:p>
        </p:txBody>
      </p:sp>
      <p:sp>
        <p:nvSpPr>
          <p:cNvPr id="27" name="Text 25"/>
          <p:cNvSpPr/>
          <p:nvPr/>
        </p:nvSpPr>
        <p:spPr>
          <a:xfrm>
            <a:off x="8351520" y="4389120"/>
            <a:ext cx="3078480" cy="1234440"/>
          </a:xfrm>
          <a:prstGeom prst="rect">
            <a:avLst/>
          </a:prstGeom>
          <a:noFill/>
        </p:spPr>
        <p:txBody>
          <a:bodyPr wrap="square" rtlCol="0" anchor="ctr"/>
          <a:lstStyle/>
          <a:p>
            <a:pPr marL="0" indent="0">
              <a:lnSpc>
                <a:spcPts val="1500"/>
              </a:lnSpc>
              <a:buNone/>
            </a:pPr>
            <a:r>
              <a:rPr lang="en-US" sz="1100" dirty="0">
                <a:solidFill>
                  <a:srgbClr val="5C7078"/>
                </a:solidFill>
                <a:latin typeface="Calibri" panose="020F0502020204030204" pitchFamily="34" charset="0"/>
                <a:ea typeface="Calibri" panose="020F0502020204030204" pitchFamily="34" charset="-122"/>
                <a:cs typeface="Calibri" panose="020F0502020204030204" pitchFamily="34" charset="-120"/>
              </a:rPr>
              <a:t>Approve hospitals, platform oversight</a:t>
            </a:r>
            <a:endParaRPr lang="en-US" sz="1100" dirty="0"/>
          </a:p>
        </p:txBody>
      </p:sp>
      <p:sp>
        <p:nvSpPr>
          <p:cNvPr id="28" name="Text 26"/>
          <p:cNvSpPr/>
          <p:nvPr/>
        </p:nvSpPr>
        <p:spPr>
          <a:xfrm>
            <a:off x="548640" y="5806440"/>
            <a:ext cx="11064240" cy="365760"/>
          </a:xfrm>
          <a:prstGeom prst="rect">
            <a:avLst/>
          </a:prstGeom>
          <a:noFill/>
        </p:spPr>
        <p:txBody>
          <a:bodyPr wrap="square" rtlCol="0" anchor="ctr"/>
          <a:lstStyle/>
          <a:p>
            <a:pPr marL="0" indent="0">
              <a:buNone/>
            </a:pPr>
            <a:r>
              <a:rPr lang="en-US" sz="1150" i="1" dirty="0">
                <a:solidFill>
                  <a:srgbClr val="5C7078"/>
                </a:solidFill>
                <a:latin typeface="Calibri" panose="020F0502020204030204" pitchFamily="34" charset="0"/>
                <a:ea typeface="Calibri" panose="020F0502020204030204" pitchFamily="34" charset="-122"/>
                <a:cs typeface="Calibri" panose="020F0502020204030204" pitchFamily="34" charset="-120"/>
              </a:rPr>
              <a:t>Wireframes designed in Figma; implemented with React components and Bootstrap 5 styling.</a:t>
            </a:r>
            <a:endParaRPr lang="en-US" sz="1150" dirty="0"/>
          </a:p>
        </p:txBody>
      </p:sp>
      <p:sp>
        <p:nvSpPr>
          <p:cNvPr id="29" name="Text 27"/>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5C7078"/>
                </a:solidFill>
                <a:latin typeface="Calibri" panose="020F0502020204030204" pitchFamily="34" charset="0"/>
                <a:ea typeface="Calibri" panose="020F0502020204030204" pitchFamily="34" charset="-122"/>
                <a:cs typeface="Calibri" panose="020F0502020204030204" pitchFamily="34" charset="-120"/>
              </a:rPr>
              <a:t>MEDINEX — Mini Project 2 — Review 1</a:t>
            </a:r>
            <a:endParaRPr lang="en-US" sz="900" dirty="0"/>
          </a:p>
        </p:txBody>
      </p:sp>
      <p:sp>
        <p:nvSpPr>
          <p:cNvPr id="30" name="Text 28"/>
          <p:cNvSpPr/>
          <p:nvPr/>
        </p:nvSpPr>
        <p:spPr>
          <a:xfrm>
            <a:off x="11521440" y="6537960"/>
            <a:ext cx="457200" cy="274320"/>
          </a:xfrm>
          <a:prstGeom prst="rect">
            <a:avLst/>
          </a:prstGeom>
          <a:noFill/>
        </p:spPr>
        <p:txBody>
          <a:bodyPr wrap="square" rtlCol="0" anchor="ctr"/>
          <a:lstStyle/>
          <a:p>
            <a:pPr marL="0" indent="0" algn="r">
              <a:buNone/>
            </a:pPr>
            <a:r>
              <a:rPr lang="en-US" sz="900" dirty="0">
                <a:solidFill>
                  <a:srgbClr val="5C7078"/>
                </a:solidFill>
                <a:latin typeface="Calibri" panose="020F0502020204030204" pitchFamily="34" charset="0"/>
                <a:ea typeface="Calibri" panose="020F0502020204030204" pitchFamily="34" charset="-122"/>
                <a:cs typeface="Calibri" panose="020F0502020204030204"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48640" y="320040"/>
            <a:ext cx="7315200" cy="320040"/>
          </a:xfrm>
          <a:prstGeom prst="rect">
            <a:avLst/>
          </a:prstGeom>
          <a:noFill/>
        </p:spPr>
        <p:txBody>
          <a:bodyPr wrap="square">
            <a:spAutoFit/>
          </a:bodyPr>
          <a:lstStyle/>
          <a:p>
            <a:r>
              <a:rPr sz="1300" b="1">
                <a:solidFill>
                  <a:srgbClr val="00A896"/>
                </a:solidFill>
                <a:latin typeface="Calibri" panose="020F0502020204030204"/>
              </a:rPr>
              <a:t>DESIGN</a:t>
            </a:r>
            <a:endParaRPr sz="1300" b="1">
              <a:solidFill>
                <a:srgbClr val="00A896"/>
              </a:solidFill>
              <a:latin typeface="Calibri" panose="020F0502020204030204"/>
            </a:endParaRPr>
          </a:p>
        </p:txBody>
      </p:sp>
      <p:sp>
        <p:nvSpPr>
          <p:cNvPr id="3" name="TextBox 2"/>
          <p:cNvSpPr txBox="1"/>
          <p:nvPr/>
        </p:nvSpPr>
        <p:spPr>
          <a:xfrm>
            <a:off x="548640" y="594360"/>
            <a:ext cx="10789920" cy="640080"/>
          </a:xfrm>
          <a:prstGeom prst="rect">
            <a:avLst/>
          </a:prstGeom>
          <a:noFill/>
        </p:spPr>
        <p:txBody>
          <a:bodyPr wrap="square">
            <a:spAutoFit/>
          </a:bodyPr>
          <a:lstStyle/>
          <a:p>
            <a:r>
              <a:rPr sz="3000" b="1">
                <a:solidFill>
                  <a:srgbClr val="0B1F2A"/>
                </a:solidFill>
                <a:latin typeface="Cambria" panose="02040503050406030204"/>
              </a:rPr>
              <a:t>Live Application Screens · 1 of 2</a:t>
            </a:r>
            <a:endParaRPr sz="3000" b="1">
              <a:solidFill>
                <a:srgbClr val="0B1F2A"/>
              </a:solidFill>
              <a:latin typeface="Cambria" panose="02040503050406030204"/>
            </a:endParaRPr>
          </a:p>
        </p:txBody>
      </p:sp>
      <p:sp>
        <p:nvSpPr>
          <p:cNvPr id="4" name="Rounded Rectangle 3"/>
          <p:cNvSpPr/>
          <p:nvPr/>
        </p:nvSpPr>
        <p:spPr>
          <a:xfrm>
            <a:off x="548640" y="1550000"/>
            <a:ext cx="3535680" cy="4500000"/>
          </a:xfrm>
          <a:prstGeom prst="roundRect">
            <a:avLst>
              <a:gd name="adj" fmla="val 3500"/>
            </a:avLst>
          </a:prstGeom>
          <a:solidFill>
            <a:srgbClr val="F4F9F8"/>
          </a:solidFill>
          <a:ln w="12700">
            <a:solidFill>
              <a:srgbClr val="D7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50000"/>
            <a:ext cx="91440" cy="450000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14592"/>
            <a:ext cx="3055680" cy="365760"/>
          </a:xfrm>
          <a:prstGeom prst="rect">
            <a:avLst/>
          </a:prstGeom>
          <a:noFill/>
        </p:spPr>
        <p:txBody>
          <a:bodyPr wrap="square">
            <a:spAutoFit/>
          </a:bodyPr>
          <a:lstStyle/>
          <a:p>
            <a:r>
              <a:rPr sz="1350" b="1">
                <a:solidFill>
                  <a:srgbClr val="0B1F2A"/>
                </a:solidFill>
                <a:latin typeface="Cambria" panose="02040503050406030204"/>
              </a:rPr>
              <a:t>Login</a:t>
            </a:r>
            <a:endParaRPr sz="1350" b="1">
              <a:solidFill>
                <a:srgbClr val="0B1F2A"/>
              </a:solidFill>
              <a:latin typeface="Cambria" panose="02040503050406030204"/>
            </a:endParaRPr>
          </a:p>
        </p:txBody>
      </p:sp>
      <p:pic>
        <p:nvPicPr>
          <p:cNvPr id="7" name="Picture 6" descr="login.png"/>
          <p:cNvPicPr>
            <a:picLocks noChangeAspect="1"/>
          </p:cNvPicPr>
          <p:nvPr/>
        </p:nvPicPr>
        <p:blipFill>
          <a:blip r:embed="rId1"/>
          <a:stretch>
            <a:fillRect/>
          </a:stretch>
        </p:blipFill>
        <p:spPr>
          <a:xfrm>
            <a:off x="738640" y="3067608"/>
            <a:ext cx="3155680" cy="1895134"/>
          </a:xfrm>
          <a:prstGeom prst="rect">
            <a:avLst/>
          </a:prstGeom>
          <a:ln w="9525">
            <a:solidFill>
              <a:srgbClr val="D7E4E2"/>
            </a:solidFill>
          </a:ln>
          <a:effectLst/>
        </p:spPr>
      </p:pic>
      <p:sp>
        <p:nvSpPr>
          <p:cNvPr id="8" name="Rounded Rectangle 7"/>
          <p:cNvSpPr/>
          <p:nvPr/>
        </p:nvSpPr>
        <p:spPr>
          <a:xfrm>
            <a:off x="4312920" y="1550000"/>
            <a:ext cx="3535680" cy="4500000"/>
          </a:xfrm>
          <a:prstGeom prst="roundRect">
            <a:avLst>
              <a:gd name="adj" fmla="val 3500"/>
            </a:avLst>
          </a:prstGeom>
          <a:solidFill>
            <a:srgbClr val="F4F9F8"/>
          </a:solidFill>
          <a:ln w="12700">
            <a:solidFill>
              <a:srgbClr val="D7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12920" y="1550000"/>
            <a:ext cx="91440" cy="4500000"/>
          </a:xfrm>
          <a:prstGeom prst="rect">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1714592"/>
            <a:ext cx="3055680" cy="365760"/>
          </a:xfrm>
          <a:prstGeom prst="rect">
            <a:avLst/>
          </a:prstGeom>
          <a:noFill/>
        </p:spPr>
        <p:txBody>
          <a:bodyPr wrap="square">
            <a:spAutoFit/>
          </a:bodyPr>
          <a:lstStyle/>
          <a:p>
            <a:r>
              <a:rPr sz="1350" b="1">
                <a:solidFill>
                  <a:srgbClr val="0B1F2A"/>
                </a:solidFill>
                <a:latin typeface="Cambria" panose="02040503050406030204"/>
              </a:rPr>
              <a:t>Registration</a:t>
            </a:r>
            <a:endParaRPr sz="1350" b="1">
              <a:solidFill>
                <a:srgbClr val="0B1F2A"/>
              </a:solidFill>
              <a:latin typeface="Cambria" panose="02040503050406030204"/>
            </a:endParaRPr>
          </a:p>
        </p:txBody>
      </p:sp>
      <p:pic>
        <p:nvPicPr>
          <p:cNvPr id="11" name="Picture 10" descr="register.png"/>
          <p:cNvPicPr>
            <a:picLocks noChangeAspect="1"/>
          </p:cNvPicPr>
          <p:nvPr/>
        </p:nvPicPr>
        <p:blipFill>
          <a:blip r:embed="rId2"/>
          <a:stretch>
            <a:fillRect/>
          </a:stretch>
        </p:blipFill>
        <p:spPr>
          <a:xfrm>
            <a:off x="4502920" y="3004079"/>
            <a:ext cx="3155680" cy="2022193"/>
          </a:xfrm>
          <a:prstGeom prst="rect">
            <a:avLst/>
          </a:prstGeom>
          <a:ln w="9525">
            <a:solidFill>
              <a:srgbClr val="D7E4E2"/>
            </a:solidFill>
          </a:ln>
          <a:effectLst/>
        </p:spPr>
      </p:pic>
      <p:sp>
        <p:nvSpPr>
          <p:cNvPr id="12" name="Rounded Rectangle 11"/>
          <p:cNvSpPr/>
          <p:nvPr/>
        </p:nvSpPr>
        <p:spPr>
          <a:xfrm>
            <a:off x="8077200" y="1550000"/>
            <a:ext cx="3535680" cy="4500000"/>
          </a:xfrm>
          <a:prstGeom prst="roundRect">
            <a:avLst>
              <a:gd name="adj" fmla="val 3500"/>
            </a:avLst>
          </a:prstGeom>
          <a:solidFill>
            <a:srgbClr val="F4F9F8"/>
          </a:solidFill>
          <a:ln w="12700">
            <a:solidFill>
              <a:srgbClr val="D7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77200" y="1550000"/>
            <a:ext cx="91440" cy="450000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51520" y="1714592"/>
            <a:ext cx="3055680" cy="365760"/>
          </a:xfrm>
          <a:prstGeom prst="rect">
            <a:avLst/>
          </a:prstGeom>
          <a:noFill/>
        </p:spPr>
        <p:txBody>
          <a:bodyPr wrap="square">
            <a:spAutoFit/>
          </a:bodyPr>
          <a:lstStyle/>
          <a:p>
            <a:r>
              <a:rPr sz="1350" b="1">
                <a:solidFill>
                  <a:srgbClr val="0B1F2A"/>
                </a:solidFill>
                <a:latin typeface="Cambria" panose="02040503050406030204"/>
              </a:rPr>
              <a:t>Doctor Workspace</a:t>
            </a:r>
            <a:endParaRPr sz="1350" b="1">
              <a:solidFill>
                <a:srgbClr val="0B1F2A"/>
              </a:solidFill>
              <a:latin typeface="Cambria" panose="02040503050406030204"/>
            </a:endParaRPr>
          </a:p>
        </p:txBody>
      </p:sp>
      <p:pic>
        <p:nvPicPr>
          <p:cNvPr id="15" name="Picture 14" descr="doctor_workspace.png"/>
          <p:cNvPicPr>
            <a:picLocks noChangeAspect="1"/>
          </p:cNvPicPr>
          <p:nvPr/>
        </p:nvPicPr>
        <p:blipFill>
          <a:blip r:embed="rId3"/>
          <a:stretch>
            <a:fillRect/>
          </a:stretch>
        </p:blipFill>
        <p:spPr>
          <a:xfrm>
            <a:off x="8267200" y="3407911"/>
            <a:ext cx="3155680" cy="1214528"/>
          </a:xfrm>
          <a:prstGeom prst="rect">
            <a:avLst/>
          </a:prstGeom>
          <a:ln w="9525">
            <a:solidFill>
              <a:srgbClr val="D7E4E2"/>
            </a:solidFill>
          </a:ln>
          <a:effectLst/>
        </p:spPr>
      </p:pic>
      <p:sp>
        <p:nvSpPr>
          <p:cNvPr id="16" name="TextBox 15"/>
          <p:cNvSpPr txBox="1"/>
          <p:nvPr/>
        </p:nvSpPr>
        <p:spPr>
          <a:xfrm>
            <a:off x="548640" y="5980000"/>
            <a:ext cx="11064240" cy="365760"/>
          </a:xfrm>
          <a:prstGeom prst="rect">
            <a:avLst/>
          </a:prstGeom>
          <a:noFill/>
        </p:spPr>
        <p:txBody>
          <a:bodyPr wrap="none">
            <a:spAutoFit/>
          </a:bodyPr>
          <a:lstStyle/>
          <a:p>
            <a:r>
              <a:rPr sz="1150" i="1">
                <a:solidFill>
                  <a:srgbClr val="5C7078"/>
                </a:solidFill>
                <a:latin typeface="Calibri" panose="020F0502020204030204"/>
              </a:rPr>
              <a:t>Screens captured from the running MEDINEX application (React + Bootstrap 5).</a:t>
            </a:r>
            <a:endParaRPr sz="1150" i="1">
              <a:solidFill>
                <a:srgbClr val="5C7078"/>
              </a:solidFill>
              <a:latin typeface="Calibri" panose="020F0502020204030204"/>
            </a:endParaRPr>
          </a:p>
        </p:txBody>
      </p:sp>
      <p:sp>
        <p:nvSpPr>
          <p:cNvPr id="17" name="TextBox 16"/>
          <p:cNvSpPr txBox="1"/>
          <p:nvPr/>
        </p:nvSpPr>
        <p:spPr>
          <a:xfrm>
            <a:off x="548640" y="6537960"/>
            <a:ext cx="7315200" cy="274320"/>
          </a:xfrm>
          <a:prstGeom prst="rect">
            <a:avLst/>
          </a:prstGeom>
          <a:noFill/>
        </p:spPr>
        <p:txBody>
          <a:bodyPr wrap="none">
            <a:spAutoFit/>
          </a:bodyPr>
          <a:lstStyle/>
          <a:p>
            <a:r>
              <a:rPr sz="900">
                <a:solidFill>
                  <a:srgbClr val="5C7078"/>
                </a:solidFill>
                <a:latin typeface="Calibri" panose="020F0502020204030204"/>
              </a:rPr>
              <a:t>MEDINEX — Mini Project 2 — Review 1</a:t>
            </a:r>
            <a:endParaRPr sz="900">
              <a:solidFill>
                <a:srgbClr val="5C7078"/>
              </a:solidFill>
              <a:latin typeface="Calibri" panose="020F0502020204030204"/>
            </a:endParaRPr>
          </a:p>
        </p:txBody>
      </p:sp>
      <p:sp>
        <p:nvSpPr>
          <p:cNvPr id="18" name="TextBox 17"/>
          <p:cNvSpPr txBox="1"/>
          <p:nvPr/>
        </p:nvSpPr>
        <p:spPr>
          <a:xfrm>
            <a:off x="11521440" y="6537960"/>
            <a:ext cx="457200" cy="274320"/>
          </a:xfrm>
          <a:prstGeom prst="rect">
            <a:avLst/>
          </a:prstGeom>
          <a:noFill/>
        </p:spPr>
        <p:txBody>
          <a:bodyPr wrap="none">
            <a:spAutoFit/>
          </a:bodyPr>
          <a:lstStyle/>
          <a:p>
            <a:pPr algn="r"/>
            <a:r>
              <a:rPr sz="900">
                <a:solidFill>
                  <a:srgbClr val="5C7078"/>
                </a:solidFill>
                <a:latin typeface="Calibri" panose="020F0502020204030204"/>
              </a:rPr>
              <a:t>9</a:t>
            </a:r>
            <a:endParaRPr sz="900">
              <a:solidFill>
                <a:srgbClr val="5C7078"/>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TextBox 1"/>
          <p:cNvSpPr txBox="1"/>
          <p:nvPr/>
        </p:nvSpPr>
        <p:spPr>
          <a:xfrm>
            <a:off x="548640" y="320040"/>
            <a:ext cx="7315200" cy="320040"/>
          </a:xfrm>
          <a:prstGeom prst="rect">
            <a:avLst/>
          </a:prstGeom>
          <a:noFill/>
        </p:spPr>
        <p:txBody>
          <a:bodyPr wrap="square">
            <a:spAutoFit/>
          </a:bodyPr>
          <a:lstStyle/>
          <a:p>
            <a:r>
              <a:rPr sz="1300" b="1">
                <a:solidFill>
                  <a:srgbClr val="00A896"/>
                </a:solidFill>
                <a:latin typeface="Calibri" panose="020F0502020204030204"/>
              </a:rPr>
              <a:t>DESIGN</a:t>
            </a:r>
            <a:endParaRPr sz="1300" b="1">
              <a:solidFill>
                <a:srgbClr val="00A896"/>
              </a:solidFill>
              <a:latin typeface="Calibri" panose="020F0502020204030204"/>
            </a:endParaRPr>
          </a:p>
        </p:txBody>
      </p:sp>
      <p:sp>
        <p:nvSpPr>
          <p:cNvPr id="3" name="TextBox 2"/>
          <p:cNvSpPr txBox="1"/>
          <p:nvPr/>
        </p:nvSpPr>
        <p:spPr>
          <a:xfrm>
            <a:off x="548640" y="594360"/>
            <a:ext cx="10789920" cy="640080"/>
          </a:xfrm>
          <a:prstGeom prst="rect">
            <a:avLst/>
          </a:prstGeom>
          <a:noFill/>
        </p:spPr>
        <p:txBody>
          <a:bodyPr wrap="square">
            <a:spAutoFit/>
          </a:bodyPr>
          <a:lstStyle/>
          <a:p>
            <a:r>
              <a:rPr sz="3000" b="1">
                <a:solidFill>
                  <a:srgbClr val="0B1F2A"/>
                </a:solidFill>
                <a:latin typeface="Cambria" panose="02040503050406030204"/>
              </a:rPr>
              <a:t>Live Application Screens · 2 of 2</a:t>
            </a:r>
            <a:endParaRPr sz="3000" b="1">
              <a:solidFill>
                <a:srgbClr val="0B1F2A"/>
              </a:solidFill>
              <a:latin typeface="Cambria" panose="02040503050406030204"/>
            </a:endParaRPr>
          </a:p>
        </p:txBody>
      </p:sp>
      <p:sp>
        <p:nvSpPr>
          <p:cNvPr id="4" name="Rounded Rectangle 3"/>
          <p:cNvSpPr/>
          <p:nvPr/>
        </p:nvSpPr>
        <p:spPr>
          <a:xfrm>
            <a:off x="548640" y="1550000"/>
            <a:ext cx="3535680" cy="4500000"/>
          </a:xfrm>
          <a:prstGeom prst="roundRect">
            <a:avLst>
              <a:gd name="adj" fmla="val 3500"/>
            </a:avLst>
          </a:prstGeom>
          <a:solidFill>
            <a:srgbClr val="F4F9F8"/>
          </a:solidFill>
          <a:ln w="12700">
            <a:solidFill>
              <a:srgbClr val="D7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550000"/>
            <a:ext cx="91440" cy="450000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714592"/>
            <a:ext cx="3055680" cy="365760"/>
          </a:xfrm>
          <a:prstGeom prst="rect">
            <a:avLst/>
          </a:prstGeom>
          <a:noFill/>
        </p:spPr>
        <p:txBody>
          <a:bodyPr wrap="square">
            <a:spAutoFit/>
          </a:bodyPr>
          <a:lstStyle/>
          <a:p>
            <a:r>
              <a:rPr sz="1350" b="1">
                <a:solidFill>
                  <a:srgbClr val="0B1F2A"/>
                </a:solidFill>
                <a:latin typeface="Cambria" panose="02040503050406030204"/>
              </a:rPr>
              <a:t>E-Prescription Pad (AI Safety Check)</a:t>
            </a:r>
            <a:endParaRPr sz="1350" b="1">
              <a:solidFill>
                <a:srgbClr val="0B1F2A"/>
              </a:solidFill>
              <a:latin typeface="Cambria" panose="02040503050406030204"/>
            </a:endParaRPr>
          </a:p>
        </p:txBody>
      </p:sp>
      <p:pic>
        <p:nvPicPr>
          <p:cNvPr id="7" name="Picture 6" descr="prescription_pad.png"/>
          <p:cNvPicPr>
            <a:picLocks noChangeAspect="1"/>
          </p:cNvPicPr>
          <p:nvPr/>
        </p:nvPicPr>
        <p:blipFill>
          <a:blip r:embed="rId1"/>
          <a:stretch>
            <a:fillRect/>
          </a:stretch>
        </p:blipFill>
        <p:spPr>
          <a:xfrm>
            <a:off x="738640" y="2905038"/>
            <a:ext cx="3155680" cy="2220274"/>
          </a:xfrm>
          <a:prstGeom prst="rect">
            <a:avLst/>
          </a:prstGeom>
          <a:ln w="9525">
            <a:solidFill>
              <a:srgbClr val="D7E4E2"/>
            </a:solidFill>
          </a:ln>
          <a:effectLst/>
        </p:spPr>
      </p:pic>
      <p:sp>
        <p:nvSpPr>
          <p:cNvPr id="8" name="Rounded Rectangle 7"/>
          <p:cNvSpPr/>
          <p:nvPr/>
        </p:nvSpPr>
        <p:spPr>
          <a:xfrm>
            <a:off x="4312920" y="1550000"/>
            <a:ext cx="3535680" cy="4500000"/>
          </a:xfrm>
          <a:prstGeom prst="roundRect">
            <a:avLst>
              <a:gd name="adj" fmla="val 3500"/>
            </a:avLst>
          </a:prstGeom>
          <a:solidFill>
            <a:srgbClr val="F4F9F8"/>
          </a:solidFill>
          <a:ln w="12700">
            <a:solidFill>
              <a:srgbClr val="D7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312920" y="1550000"/>
            <a:ext cx="91440" cy="4500000"/>
          </a:xfrm>
          <a:prstGeom prst="rect">
            <a:avLst/>
          </a:prstGeom>
          <a:solidFill>
            <a:srgbClr val="00A8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1714592"/>
            <a:ext cx="3055680" cy="365760"/>
          </a:xfrm>
          <a:prstGeom prst="rect">
            <a:avLst/>
          </a:prstGeom>
          <a:noFill/>
        </p:spPr>
        <p:txBody>
          <a:bodyPr wrap="square">
            <a:spAutoFit/>
          </a:bodyPr>
          <a:lstStyle/>
          <a:p>
            <a:r>
              <a:rPr sz="1350" b="1">
                <a:solidFill>
                  <a:srgbClr val="0B1F2A"/>
                </a:solidFill>
                <a:latin typeface="Cambria" panose="02040503050406030204"/>
              </a:rPr>
              <a:t>Hospital — Manage Doctors</a:t>
            </a:r>
            <a:endParaRPr sz="1350" b="1">
              <a:solidFill>
                <a:srgbClr val="0B1F2A"/>
              </a:solidFill>
              <a:latin typeface="Cambria" panose="02040503050406030204"/>
            </a:endParaRPr>
          </a:p>
        </p:txBody>
      </p:sp>
      <p:pic>
        <p:nvPicPr>
          <p:cNvPr id="11" name="Picture 10" descr="manage_doctors.png"/>
          <p:cNvPicPr>
            <a:picLocks noChangeAspect="1"/>
          </p:cNvPicPr>
          <p:nvPr/>
        </p:nvPicPr>
        <p:blipFill>
          <a:blip r:embed="rId2"/>
          <a:stretch>
            <a:fillRect/>
          </a:stretch>
        </p:blipFill>
        <p:spPr>
          <a:xfrm>
            <a:off x="4502920" y="2950423"/>
            <a:ext cx="3155680" cy="2129505"/>
          </a:xfrm>
          <a:prstGeom prst="rect">
            <a:avLst/>
          </a:prstGeom>
          <a:ln w="9525">
            <a:solidFill>
              <a:srgbClr val="D7E4E2"/>
            </a:solidFill>
          </a:ln>
          <a:effectLst/>
        </p:spPr>
      </p:pic>
      <p:sp>
        <p:nvSpPr>
          <p:cNvPr id="12" name="Rounded Rectangle 11"/>
          <p:cNvSpPr/>
          <p:nvPr/>
        </p:nvSpPr>
        <p:spPr>
          <a:xfrm>
            <a:off x="8077200" y="1550000"/>
            <a:ext cx="3535680" cy="4500000"/>
          </a:xfrm>
          <a:prstGeom prst="roundRect">
            <a:avLst>
              <a:gd name="adj" fmla="val 3500"/>
            </a:avLst>
          </a:prstGeom>
          <a:solidFill>
            <a:srgbClr val="F4F9F8"/>
          </a:solidFill>
          <a:ln w="12700">
            <a:solidFill>
              <a:srgbClr val="D7E4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77200" y="1550000"/>
            <a:ext cx="91440" cy="450000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51520" y="1714592"/>
            <a:ext cx="3055680" cy="365760"/>
          </a:xfrm>
          <a:prstGeom prst="rect">
            <a:avLst/>
          </a:prstGeom>
          <a:noFill/>
        </p:spPr>
        <p:txBody>
          <a:bodyPr wrap="square">
            <a:spAutoFit/>
          </a:bodyPr>
          <a:lstStyle/>
          <a:p>
            <a:r>
              <a:rPr sz="1350" b="1">
                <a:solidFill>
                  <a:srgbClr val="0B1F2A"/>
                </a:solidFill>
                <a:latin typeface="Cambria" panose="02040503050406030204"/>
              </a:rPr>
              <a:t>Admin — Hospital Approvals</a:t>
            </a:r>
            <a:endParaRPr sz="1350" b="1">
              <a:solidFill>
                <a:srgbClr val="0B1F2A"/>
              </a:solidFill>
              <a:latin typeface="Cambria" panose="02040503050406030204"/>
            </a:endParaRPr>
          </a:p>
        </p:txBody>
      </p:sp>
      <p:pic>
        <p:nvPicPr>
          <p:cNvPr id="15" name="Picture 14" descr="admin_hospitals.png"/>
          <p:cNvPicPr>
            <a:picLocks noChangeAspect="1"/>
          </p:cNvPicPr>
          <p:nvPr/>
        </p:nvPicPr>
        <p:blipFill>
          <a:blip r:embed="rId3"/>
          <a:stretch>
            <a:fillRect/>
          </a:stretch>
        </p:blipFill>
        <p:spPr>
          <a:xfrm>
            <a:off x="8267200" y="2956724"/>
            <a:ext cx="3155680" cy="2116902"/>
          </a:xfrm>
          <a:prstGeom prst="rect">
            <a:avLst/>
          </a:prstGeom>
          <a:ln w="9525">
            <a:solidFill>
              <a:srgbClr val="D7E4E2"/>
            </a:solidFill>
          </a:ln>
          <a:effectLst/>
        </p:spPr>
      </p:pic>
      <p:sp>
        <p:nvSpPr>
          <p:cNvPr id="16" name="TextBox 15"/>
          <p:cNvSpPr txBox="1"/>
          <p:nvPr/>
        </p:nvSpPr>
        <p:spPr>
          <a:xfrm>
            <a:off x="548640" y="5980000"/>
            <a:ext cx="11064240" cy="365760"/>
          </a:xfrm>
          <a:prstGeom prst="rect">
            <a:avLst/>
          </a:prstGeom>
          <a:noFill/>
        </p:spPr>
        <p:txBody>
          <a:bodyPr wrap="none">
            <a:spAutoFit/>
          </a:bodyPr>
          <a:lstStyle/>
          <a:p>
            <a:r>
              <a:rPr sz="1150" i="1">
                <a:solidFill>
                  <a:srgbClr val="5C7078"/>
                </a:solidFill>
                <a:latin typeface="Calibri" panose="020F0502020204030204"/>
              </a:rPr>
              <a:t>Screens captured from the running MEDINEX application (React + Bootstrap 5).</a:t>
            </a:r>
            <a:endParaRPr sz="1150" i="1">
              <a:solidFill>
                <a:srgbClr val="5C7078"/>
              </a:solidFill>
              <a:latin typeface="Calibri" panose="020F0502020204030204"/>
            </a:endParaRPr>
          </a:p>
        </p:txBody>
      </p:sp>
      <p:sp>
        <p:nvSpPr>
          <p:cNvPr id="17" name="TextBox 16"/>
          <p:cNvSpPr txBox="1"/>
          <p:nvPr/>
        </p:nvSpPr>
        <p:spPr>
          <a:xfrm>
            <a:off x="548640" y="6537960"/>
            <a:ext cx="7315200" cy="274320"/>
          </a:xfrm>
          <a:prstGeom prst="rect">
            <a:avLst/>
          </a:prstGeom>
          <a:noFill/>
        </p:spPr>
        <p:txBody>
          <a:bodyPr wrap="none">
            <a:spAutoFit/>
          </a:bodyPr>
          <a:lstStyle/>
          <a:p>
            <a:r>
              <a:rPr sz="900">
                <a:solidFill>
                  <a:srgbClr val="5C7078"/>
                </a:solidFill>
                <a:latin typeface="Calibri" panose="020F0502020204030204"/>
              </a:rPr>
              <a:t>MEDINEX — Mini Project 2 — Review 1</a:t>
            </a:r>
            <a:endParaRPr sz="900">
              <a:solidFill>
                <a:srgbClr val="5C7078"/>
              </a:solidFill>
              <a:latin typeface="Calibri" panose="020F0502020204030204"/>
            </a:endParaRPr>
          </a:p>
        </p:txBody>
      </p:sp>
      <p:sp>
        <p:nvSpPr>
          <p:cNvPr id="18" name="TextBox 17"/>
          <p:cNvSpPr txBox="1"/>
          <p:nvPr/>
        </p:nvSpPr>
        <p:spPr>
          <a:xfrm>
            <a:off x="11521440" y="6537960"/>
            <a:ext cx="457200" cy="274320"/>
          </a:xfrm>
          <a:prstGeom prst="rect">
            <a:avLst/>
          </a:prstGeom>
          <a:noFill/>
        </p:spPr>
        <p:txBody>
          <a:bodyPr wrap="none">
            <a:spAutoFit/>
          </a:bodyPr>
          <a:lstStyle/>
          <a:p>
            <a:pPr algn="r"/>
            <a:r>
              <a:rPr sz="900">
                <a:solidFill>
                  <a:srgbClr val="5C7078"/>
                </a:solidFill>
                <a:latin typeface="Calibri" panose="020F0502020204030204"/>
              </a:rPr>
              <a:t>10</a:t>
            </a:r>
            <a:endParaRPr sz="900">
              <a:solidFill>
                <a:srgbClr val="5C7078"/>
              </a:solidFill>
              <a:latin typeface="Calibri" panose="020F050202020403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7315200" cy="320040"/>
          </a:xfrm>
          <a:prstGeom prst="rect">
            <a:avLst/>
          </a:prstGeom>
          <a:noFill/>
        </p:spPr>
        <p:txBody>
          <a:bodyPr wrap="square" rtlCol="0" anchor="ctr"/>
          <a:lstStyle/>
          <a:p>
            <a:pPr marL="0" indent="0">
              <a:buNone/>
            </a:pPr>
            <a:r>
              <a:rPr lang="en-US" sz="1300" b="1" kern="0" spc="200" dirty="0">
                <a:solidFill>
                  <a:srgbClr val="00A896"/>
                </a:solidFill>
                <a:latin typeface="Calibri" panose="020F0502020204030204" pitchFamily="34" charset="0"/>
                <a:ea typeface="Calibri" panose="020F0502020204030204" pitchFamily="34" charset="-122"/>
                <a:cs typeface="Calibri" panose="020F0502020204030204" pitchFamily="34" charset="-120"/>
              </a:rPr>
              <a:t>IMPLEMENTATION</a:t>
            </a:r>
            <a:endParaRPr lang="en-US" sz="1300" dirty="0"/>
          </a:p>
        </p:txBody>
      </p:sp>
      <p:sp>
        <p:nvSpPr>
          <p:cNvPr id="3" name="Text 1"/>
          <p:cNvSpPr/>
          <p:nvPr/>
        </p:nvSpPr>
        <p:spPr>
          <a:xfrm>
            <a:off x="548640" y="594360"/>
            <a:ext cx="10789920" cy="640080"/>
          </a:xfrm>
          <a:prstGeom prst="rect">
            <a:avLst/>
          </a:prstGeom>
          <a:noFill/>
        </p:spPr>
        <p:txBody>
          <a:bodyPr wrap="square" rtlCol="0" anchor="ctr"/>
          <a:lstStyle/>
          <a:p>
            <a:pPr marL="0" indent="0">
              <a:buNone/>
            </a:pPr>
            <a:r>
              <a:rPr lang="en-US" sz="3000" b="1" dirty="0">
                <a:solidFill>
                  <a:srgbClr val="0B1F2A"/>
                </a:solidFill>
                <a:latin typeface="Cambria" panose="02040503050406030204" pitchFamily="34" charset="0"/>
                <a:ea typeface="Cambria" panose="02040503050406030204" pitchFamily="34" charset="-122"/>
                <a:cs typeface="Cambria" panose="02040503050406030204" pitchFamily="34" charset="-120"/>
              </a:rPr>
              <a:t>Technology Stack</a:t>
            </a:r>
            <a:endParaRPr lang="en-US" sz="3000" dirty="0"/>
          </a:p>
        </p:txBody>
      </p:sp>
      <p:sp>
        <p:nvSpPr>
          <p:cNvPr id="4" name="Shape 2"/>
          <p:cNvSpPr/>
          <p:nvPr/>
        </p:nvSpPr>
        <p:spPr>
          <a:xfrm>
            <a:off x="548640" y="1600200"/>
            <a:ext cx="5417820" cy="1417320"/>
          </a:xfrm>
          <a:prstGeom prst="roundRect">
            <a:avLst>
              <a:gd name="adj" fmla="val 5185"/>
            </a:avLst>
          </a:prstGeom>
          <a:solidFill>
            <a:srgbClr val="F4F9F8"/>
          </a:solidFill>
        </p:spPr>
        <p:txBody>
          <a:bodyPr/>
          <a:p/>
        </p:txBody>
      </p:sp>
      <p:sp>
        <p:nvSpPr>
          <p:cNvPr id="5" name="Text 3"/>
          <p:cNvSpPr/>
          <p:nvPr/>
        </p:nvSpPr>
        <p:spPr>
          <a:xfrm>
            <a:off x="822960" y="1737360"/>
            <a:ext cx="4869180" cy="365760"/>
          </a:xfrm>
          <a:prstGeom prst="rect">
            <a:avLst/>
          </a:prstGeom>
          <a:noFill/>
        </p:spPr>
        <p:txBody>
          <a:bodyPr wrap="square" rtlCol="0" anchor="ctr"/>
          <a:lstStyle/>
          <a:p>
            <a:pPr marL="0" indent="0">
              <a:buNone/>
            </a:pPr>
            <a:r>
              <a:rPr lang="en-US" sz="1400" b="1" dirty="0">
                <a:solidFill>
                  <a:srgbClr val="028090"/>
                </a:solidFill>
                <a:latin typeface="Cambria" panose="02040503050406030204" pitchFamily="34" charset="0"/>
                <a:ea typeface="Cambria" panose="02040503050406030204" pitchFamily="34" charset="-122"/>
                <a:cs typeface="Cambria" panose="02040503050406030204" pitchFamily="34" charset="-120"/>
              </a:rPr>
              <a:t>Frontend</a:t>
            </a:r>
            <a:endParaRPr lang="en-US" sz="1400" dirty="0"/>
          </a:p>
        </p:txBody>
      </p:sp>
      <p:sp>
        <p:nvSpPr>
          <p:cNvPr id="6" name="Text 4"/>
          <p:cNvSpPr/>
          <p:nvPr/>
        </p:nvSpPr>
        <p:spPr>
          <a:xfrm>
            <a:off x="822960" y="2103120"/>
            <a:ext cx="4869180" cy="777240"/>
          </a:xfrm>
          <a:prstGeom prst="rect">
            <a:avLst/>
          </a:prstGeom>
          <a:noFill/>
        </p:spPr>
        <p:txBody>
          <a:bodyPr wrap="square" rtlCol="0" anchor="ctr"/>
          <a:lstStyle/>
          <a:p>
            <a:pPr marL="0" indent="0">
              <a:lnSpc>
                <a:spcPts val="1600"/>
              </a:lnSpc>
              <a:buNone/>
            </a:pPr>
            <a:r>
              <a:rPr lang="en-US" sz="1200" dirty="0">
                <a:solidFill>
                  <a:srgbClr val="1A2B32"/>
                </a:solidFill>
                <a:latin typeface="Calibri" panose="020F0502020204030204" pitchFamily="34" charset="0"/>
                <a:ea typeface="Calibri" panose="020F0502020204030204" pitchFamily="34" charset="-122"/>
                <a:cs typeface="Calibri" panose="020F0502020204030204" pitchFamily="34" charset="-120"/>
              </a:rPr>
              <a:t>React (Vite), Bootstrap 5</a:t>
            </a:r>
            <a:endParaRPr lang="en-US" sz="1200" dirty="0"/>
          </a:p>
          <a:p>
            <a:pPr marL="0" indent="0">
              <a:lnSpc>
                <a:spcPts val="1300"/>
              </a:lnSpc>
              <a:spcBef>
                <a:spcPts val="400"/>
              </a:spcBef>
              <a:buNone/>
            </a:pPr>
            <a:r>
              <a:rPr lang="en-US" sz="900" b="1" dirty="0">
                <a:solidFill>
                  <a:srgbClr val="028090"/>
                </a:solidFill>
                <a:latin typeface="Calibri" panose="020F0502020204030204" pitchFamily="34" charset="0"/>
                <a:ea typeface="Calibri" panose="020F0502020204030204" pitchFamily="34" charset="-122"/>
                <a:cs typeface="Calibri" panose="020F0502020204030204" pitchFamily="34" charset="-120"/>
              </a:rPr>
              <a:t>Used for: </a:t>
            </a:r>
            <a:r>
              <a:rPr lang="en-US" sz="900" dirty="0">
                <a:solidFill>
                  <a:srgbClr val="5C7078"/>
                </a:solidFill>
                <a:latin typeface="Calibri" panose="020F0502020204030204" pitchFamily="34" charset="0"/>
                <a:ea typeface="Calibri" panose="020F0502020204030204" pitchFamily="34" charset="-122"/>
                <a:cs typeface="Calibri" panose="020F0502020204030204" pitchFamily="34" charset="-120"/>
              </a:rPr>
              <a:t>All role dashboards, login &amp; registration UI</a:t>
            </a:r>
            <a:endParaRPr lang="en-US" sz="900" dirty="0"/>
          </a:p>
        </p:txBody>
      </p:sp>
      <p:sp>
        <p:nvSpPr>
          <p:cNvPr id="7" name="Shape 5"/>
          <p:cNvSpPr/>
          <p:nvPr/>
        </p:nvSpPr>
        <p:spPr>
          <a:xfrm>
            <a:off x="6195060" y="1600200"/>
            <a:ext cx="5417820" cy="1417320"/>
          </a:xfrm>
          <a:prstGeom prst="roundRect">
            <a:avLst>
              <a:gd name="adj" fmla="val 5185"/>
            </a:avLst>
          </a:prstGeom>
          <a:solidFill>
            <a:srgbClr val="F4F9F8"/>
          </a:solidFill>
        </p:spPr>
        <p:txBody>
          <a:bodyPr/>
          <a:p/>
        </p:txBody>
      </p:sp>
      <p:sp>
        <p:nvSpPr>
          <p:cNvPr id="8" name="Text 6"/>
          <p:cNvSpPr/>
          <p:nvPr/>
        </p:nvSpPr>
        <p:spPr>
          <a:xfrm>
            <a:off x="6469380" y="1737360"/>
            <a:ext cx="4869180" cy="365760"/>
          </a:xfrm>
          <a:prstGeom prst="rect">
            <a:avLst/>
          </a:prstGeom>
          <a:noFill/>
        </p:spPr>
        <p:txBody>
          <a:bodyPr wrap="square" rtlCol="0" anchor="ctr"/>
          <a:lstStyle/>
          <a:p>
            <a:pPr marL="0" indent="0">
              <a:buNone/>
            </a:pPr>
            <a:r>
              <a:rPr lang="en-US" sz="1400" b="1" dirty="0">
                <a:solidFill>
                  <a:srgbClr val="028090"/>
                </a:solidFill>
                <a:latin typeface="Cambria" panose="02040503050406030204" pitchFamily="34" charset="0"/>
                <a:ea typeface="Cambria" panose="02040503050406030204" pitchFamily="34" charset="-122"/>
                <a:cs typeface="Cambria" panose="02040503050406030204" pitchFamily="34" charset="-120"/>
              </a:rPr>
              <a:t>Backend</a:t>
            </a:r>
            <a:endParaRPr lang="en-US" sz="1400" dirty="0"/>
          </a:p>
        </p:txBody>
      </p:sp>
      <p:sp>
        <p:nvSpPr>
          <p:cNvPr id="9" name="Text 7"/>
          <p:cNvSpPr/>
          <p:nvPr/>
        </p:nvSpPr>
        <p:spPr>
          <a:xfrm>
            <a:off x="6469380" y="2103120"/>
            <a:ext cx="4869180" cy="777240"/>
          </a:xfrm>
          <a:prstGeom prst="rect">
            <a:avLst/>
          </a:prstGeom>
          <a:noFill/>
        </p:spPr>
        <p:txBody>
          <a:bodyPr wrap="square" rtlCol="0" anchor="ctr"/>
          <a:lstStyle/>
          <a:p>
            <a:pPr marL="0" indent="0">
              <a:lnSpc>
                <a:spcPts val="1600"/>
              </a:lnSpc>
              <a:buNone/>
            </a:pPr>
            <a:r>
              <a:rPr lang="en-US" sz="1200" dirty="0">
                <a:solidFill>
                  <a:srgbClr val="1A2B32"/>
                </a:solidFill>
                <a:latin typeface="Calibri" panose="020F0502020204030204" pitchFamily="34" charset="0"/>
                <a:ea typeface="Calibri" panose="020F0502020204030204" pitchFamily="34" charset="-122"/>
                <a:cs typeface="Calibri" panose="020F0502020204030204" pitchFamily="34" charset="-120"/>
              </a:rPr>
              <a:t>Node.js, Express.js</a:t>
            </a:r>
            <a:endParaRPr lang="en-US" sz="1200" dirty="0"/>
          </a:p>
          <a:p>
            <a:pPr marL="0" indent="0">
              <a:lnSpc>
                <a:spcPts val="1300"/>
              </a:lnSpc>
              <a:spcBef>
                <a:spcPts val="400"/>
              </a:spcBef>
              <a:buNone/>
            </a:pPr>
            <a:r>
              <a:rPr lang="en-US" sz="900" b="1" dirty="0">
                <a:solidFill>
                  <a:srgbClr val="028090"/>
                </a:solidFill>
                <a:latin typeface="Calibri" panose="020F0502020204030204" pitchFamily="34" charset="0"/>
                <a:ea typeface="Calibri" panose="020F0502020204030204" pitchFamily="34" charset="-122"/>
                <a:cs typeface="Calibri" panose="020F0502020204030204" pitchFamily="34" charset="-120"/>
              </a:rPr>
              <a:t>Used for: </a:t>
            </a:r>
            <a:r>
              <a:rPr lang="en-US" sz="900" dirty="0">
                <a:solidFill>
                  <a:srgbClr val="5C7078"/>
                </a:solidFill>
                <a:latin typeface="Calibri" panose="020F0502020204030204" pitchFamily="34" charset="0"/>
                <a:ea typeface="Calibri" panose="020F0502020204030204" pitchFamily="34" charset="-122"/>
                <a:cs typeface="Calibri" panose="020F0502020204030204" pitchFamily="34" charset="-120"/>
              </a:rPr>
              <a:t>REST APIs for all five role modules</a:t>
            </a:r>
            <a:endParaRPr lang="en-US" sz="900" dirty="0"/>
          </a:p>
        </p:txBody>
      </p:sp>
      <p:sp>
        <p:nvSpPr>
          <p:cNvPr id="10" name="Shape 8"/>
          <p:cNvSpPr/>
          <p:nvPr/>
        </p:nvSpPr>
        <p:spPr>
          <a:xfrm>
            <a:off x="548640" y="3154680"/>
            <a:ext cx="5417820" cy="1417320"/>
          </a:xfrm>
          <a:prstGeom prst="roundRect">
            <a:avLst>
              <a:gd name="adj" fmla="val 5185"/>
            </a:avLst>
          </a:prstGeom>
          <a:solidFill>
            <a:srgbClr val="F4F9F8"/>
          </a:solidFill>
        </p:spPr>
        <p:txBody>
          <a:bodyPr/>
          <a:p/>
        </p:txBody>
      </p:sp>
      <p:sp>
        <p:nvSpPr>
          <p:cNvPr id="11" name="Text 9"/>
          <p:cNvSpPr/>
          <p:nvPr/>
        </p:nvSpPr>
        <p:spPr>
          <a:xfrm>
            <a:off x="822960" y="3291840"/>
            <a:ext cx="4869180" cy="365760"/>
          </a:xfrm>
          <a:prstGeom prst="rect">
            <a:avLst/>
          </a:prstGeom>
          <a:noFill/>
        </p:spPr>
        <p:txBody>
          <a:bodyPr wrap="square" rtlCol="0" anchor="ctr"/>
          <a:lstStyle/>
          <a:p>
            <a:pPr marL="0" indent="0">
              <a:buNone/>
            </a:pPr>
            <a:r>
              <a:rPr lang="en-US" sz="1400" b="1" dirty="0">
                <a:solidFill>
                  <a:srgbClr val="028090"/>
                </a:solidFill>
                <a:latin typeface="Cambria" panose="02040503050406030204" pitchFamily="34" charset="0"/>
                <a:ea typeface="Cambria" panose="02040503050406030204" pitchFamily="34" charset="-122"/>
                <a:cs typeface="Cambria" panose="02040503050406030204" pitchFamily="34" charset="-120"/>
              </a:rPr>
              <a:t>Database</a:t>
            </a:r>
            <a:endParaRPr lang="en-US" sz="1400" dirty="0"/>
          </a:p>
        </p:txBody>
      </p:sp>
      <p:sp>
        <p:nvSpPr>
          <p:cNvPr id="12" name="Text 10"/>
          <p:cNvSpPr/>
          <p:nvPr/>
        </p:nvSpPr>
        <p:spPr>
          <a:xfrm>
            <a:off x="822960" y="3657600"/>
            <a:ext cx="4869180" cy="777240"/>
          </a:xfrm>
          <a:prstGeom prst="rect">
            <a:avLst/>
          </a:prstGeom>
          <a:noFill/>
        </p:spPr>
        <p:txBody>
          <a:bodyPr wrap="square" rtlCol="0" anchor="ctr"/>
          <a:lstStyle/>
          <a:p>
            <a:pPr marL="0" indent="0">
              <a:lnSpc>
                <a:spcPts val="1600"/>
              </a:lnSpc>
              <a:buNone/>
            </a:pPr>
            <a:r>
              <a:rPr lang="en-US" sz="1200" dirty="0">
                <a:solidFill>
                  <a:srgbClr val="1A2B32"/>
                </a:solidFill>
                <a:latin typeface="Calibri" panose="020F0502020204030204" pitchFamily="34" charset="0"/>
                <a:ea typeface="Calibri" panose="020F0502020204030204" pitchFamily="34" charset="-122"/>
                <a:cs typeface="Calibri" panose="020F0502020204030204" pitchFamily="34" charset="-120"/>
              </a:rPr>
              <a:t>MySQL (via WAMP / phpMyAdmin)</a:t>
            </a:r>
            <a:endParaRPr lang="en-US" sz="1200" dirty="0"/>
          </a:p>
          <a:p>
            <a:pPr marL="0" indent="0">
              <a:lnSpc>
                <a:spcPts val="1300"/>
              </a:lnSpc>
              <a:spcBef>
                <a:spcPts val="400"/>
              </a:spcBef>
              <a:buNone/>
            </a:pPr>
            <a:r>
              <a:rPr lang="en-US" sz="900" b="1" dirty="0">
                <a:solidFill>
                  <a:srgbClr val="028090"/>
                </a:solidFill>
                <a:latin typeface="Calibri" panose="020F0502020204030204" pitchFamily="34" charset="0"/>
                <a:ea typeface="Calibri" panose="020F0502020204030204" pitchFamily="34" charset="-122"/>
                <a:cs typeface="Calibri" panose="020F0502020204030204" pitchFamily="34" charset="-120"/>
              </a:rPr>
              <a:t>Used for: </a:t>
            </a:r>
            <a:r>
              <a:rPr lang="en-US" sz="900" dirty="0">
                <a:solidFill>
                  <a:srgbClr val="5C7078"/>
                </a:solidFill>
                <a:latin typeface="Calibri" panose="020F0502020204030204" pitchFamily="34" charset="0"/>
                <a:ea typeface="Calibri" panose="020F0502020204030204" pitchFamily="34" charset="-122"/>
                <a:cs typeface="Calibri" panose="020F0502020204030204" pitchFamily="34" charset="-120"/>
              </a:rPr>
              <a:t>Storing users, prescriptions, reports &amp; complaints (21 tables)</a:t>
            </a:r>
            <a:endParaRPr lang="en-US" sz="900" dirty="0"/>
          </a:p>
        </p:txBody>
      </p:sp>
      <p:sp>
        <p:nvSpPr>
          <p:cNvPr id="13" name="Shape 11"/>
          <p:cNvSpPr/>
          <p:nvPr/>
        </p:nvSpPr>
        <p:spPr>
          <a:xfrm>
            <a:off x="6195060" y="3154680"/>
            <a:ext cx="5417820" cy="1417320"/>
          </a:xfrm>
          <a:prstGeom prst="roundRect">
            <a:avLst>
              <a:gd name="adj" fmla="val 5185"/>
            </a:avLst>
          </a:prstGeom>
          <a:solidFill>
            <a:srgbClr val="F4F9F8"/>
          </a:solidFill>
        </p:spPr>
        <p:txBody>
          <a:bodyPr/>
          <a:p/>
        </p:txBody>
      </p:sp>
      <p:sp>
        <p:nvSpPr>
          <p:cNvPr id="14" name="Text 12"/>
          <p:cNvSpPr/>
          <p:nvPr/>
        </p:nvSpPr>
        <p:spPr>
          <a:xfrm>
            <a:off x="6469380" y="3291840"/>
            <a:ext cx="4869180" cy="365760"/>
          </a:xfrm>
          <a:prstGeom prst="rect">
            <a:avLst/>
          </a:prstGeom>
          <a:noFill/>
        </p:spPr>
        <p:txBody>
          <a:bodyPr wrap="square" rtlCol="0" anchor="ctr"/>
          <a:lstStyle/>
          <a:p>
            <a:pPr marL="0" indent="0">
              <a:buNone/>
            </a:pPr>
            <a:r>
              <a:rPr lang="en-US" sz="1400" b="1" dirty="0">
                <a:solidFill>
                  <a:srgbClr val="028090"/>
                </a:solidFill>
                <a:latin typeface="Cambria" panose="02040503050406030204" pitchFamily="34" charset="0"/>
                <a:ea typeface="Cambria" panose="02040503050406030204" pitchFamily="34" charset="-122"/>
                <a:cs typeface="Cambria" panose="02040503050406030204" pitchFamily="34" charset="-120"/>
              </a:rPr>
              <a:t>Auth &amp; Security</a:t>
            </a:r>
            <a:endParaRPr lang="en-US" sz="1400" dirty="0"/>
          </a:p>
        </p:txBody>
      </p:sp>
      <p:sp>
        <p:nvSpPr>
          <p:cNvPr id="15" name="Text 13"/>
          <p:cNvSpPr/>
          <p:nvPr/>
        </p:nvSpPr>
        <p:spPr>
          <a:xfrm>
            <a:off x="6469380" y="3657600"/>
            <a:ext cx="4869180" cy="777240"/>
          </a:xfrm>
          <a:prstGeom prst="rect">
            <a:avLst/>
          </a:prstGeom>
          <a:noFill/>
        </p:spPr>
        <p:txBody>
          <a:bodyPr wrap="square" rtlCol="0" anchor="ctr"/>
          <a:lstStyle/>
          <a:p>
            <a:pPr marL="0" indent="0">
              <a:lnSpc>
                <a:spcPts val="1600"/>
              </a:lnSpc>
              <a:buNone/>
            </a:pPr>
            <a:r>
              <a:rPr lang="en-US" sz="1200" dirty="0">
                <a:solidFill>
                  <a:srgbClr val="1A2B32"/>
                </a:solidFill>
                <a:latin typeface="Calibri" panose="020F0502020204030204" pitchFamily="34" charset="0"/>
                <a:ea typeface="Calibri" panose="020F0502020204030204" pitchFamily="34" charset="-122"/>
                <a:cs typeface="Calibri" panose="020F0502020204030204" pitchFamily="34" charset="-120"/>
              </a:rPr>
              <a:t>JWT, bcrypt, OTP reset, helmet, CORS, rate limiting</a:t>
            </a:r>
            <a:endParaRPr lang="en-US" sz="1200" dirty="0"/>
          </a:p>
          <a:p>
            <a:pPr marL="0" indent="0">
              <a:lnSpc>
                <a:spcPts val="1300"/>
              </a:lnSpc>
              <a:spcBef>
                <a:spcPts val="400"/>
              </a:spcBef>
              <a:buNone/>
            </a:pPr>
            <a:r>
              <a:rPr lang="en-US" sz="900" b="1" dirty="0">
                <a:solidFill>
                  <a:srgbClr val="028090"/>
                </a:solidFill>
                <a:latin typeface="Calibri" panose="020F0502020204030204" pitchFamily="34" charset="0"/>
                <a:ea typeface="Calibri" panose="020F0502020204030204" pitchFamily="34" charset="-122"/>
                <a:cs typeface="Calibri" panose="020F0502020204030204" pitchFamily="34" charset="-120"/>
              </a:rPr>
              <a:t>Used for: </a:t>
            </a:r>
            <a:r>
              <a:rPr lang="en-US" sz="900" dirty="0">
                <a:solidFill>
                  <a:srgbClr val="5C7078"/>
                </a:solidFill>
                <a:latin typeface="Calibri" panose="020F0502020204030204" pitchFamily="34" charset="0"/>
                <a:ea typeface="Calibri" panose="020F0502020204030204" pitchFamily="34" charset="-122"/>
                <a:cs typeface="Calibri" panose="020F0502020204030204" pitchFamily="34" charset="-120"/>
              </a:rPr>
              <a:t>Securing login &amp; protecting role-based routes</a:t>
            </a:r>
            <a:endParaRPr lang="en-US" sz="900" dirty="0"/>
          </a:p>
        </p:txBody>
      </p:sp>
      <p:sp>
        <p:nvSpPr>
          <p:cNvPr id="16" name="Shape 14"/>
          <p:cNvSpPr/>
          <p:nvPr/>
        </p:nvSpPr>
        <p:spPr>
          <a:xfrm>
            <a:off x="548640" y="4709160"/>
            <a:ext cx="5417820" cy="1417320"/>
          </a:xfrm>
          <a:prstGeom prst="roundRect">
            <a:avLst>
              <a:gd name="adj" fmla="val 5185"/>
            </a:avLst>
          </a:prstGeom>
          <a:solidFill>
            <a:srgbClr val="F4F9F8"/>
          </a:solidFill>
        </p:spPr>
        <p:txBody>
          <a:bodyPr/>
          <a:p/>
        </p:txBody>
      </p:sp>
      <p:sp>
        <p:nvSpPr>
          <p:cNvPr id="17" name="Text 15"/>
          <p:cNvSpPr/>
          <p:nvPr/>
        </p:nvSpPr>
        <p:spPr>
          <a:xfrm>
            <a:off x="822960" y="4846320"/>
            <a:ext cx="4869180" cy="365760"/>
          </a:xfrm>
          <a:prstGeom prst="rect">
            <a:avLst/>
          </a:prstGeom>
          <a:noFill/>
        </p:spPr>
        <p:txBody>
          <a:bodyPr wrap="square" rtlCol="0" anchor="ctr"/>
          <a:lstStyle/>
          <a:p>
            <a:pPr marL="0" indent="0">
              <a:buNone/>
            </a:pPr>
            <a:r>
              <a:rPr lang="en-US" sz="1400" b="1" dirty="0">
                <a:solidFill>
                  <a:srgbClr val="028090"/>
                </a:solidFill>
                <a:latin typeface="Cambria" panose="02040503050406030204" pitchFamily="34" charset="0"/>
                <a:ea typeface="Cambria" panose="02040503050406030204" pitchFamily="34" charset="-122"/>
                <a:cs typeface="Cambria" panose="02040503050406030204" pitchFamily="34" charset="-120"/>
              </a:rPr>
              <a:t>AI Integration</a:t>
            </a:r>
            <a:endParaRPr lang="en-US" sz="1400" dirty="0"/>
          </a:p>
        </p:txBody>
      </p:sp>
      <p:sp>
        <p:nvSpPr>
          <p:cNvPr id="18" name="Text 16"/>
          <p:cNvSpPr/>
          <p:nvPr/>
        </p:nvSpPr>
        <p:spPr>
          <a:xfrm>
            <a:off x="822960" y="5212080"/>
            <a:ext cx="4869180" cy="777240"/>
          </a:xfrm>
          <a:prstGeom prst="rect">
            <a:avLst/>
          </a:prstGeom>
          <a:noFill/>
        </p:spPr>
        <p:txBody>
          <a:bodyPr wrap="square" rtlCol="0" anchor="ctr"/>
          <a:lstStyle/>
          <a:p>
            <a:pPr marL="0" indent="0">
              <a:lnSpc>
                <a:spcPts val="1600"/>
              </a:lnSpc>
              <a:buNone/>
            </a:pPr>
            <a:r>
              <a:rPr lang="en-US" sz="1200" dirty="0">
                <a:solidFill>
                  <a:srgbClr val="1A2B32"/>
                </a:solidFill>
                <a:latin typeface="Calibri" panose="020F0502020204030204" pitchFamily="34" charset="0"/>
                <a:ea typeface="Calibri" panose="020F0502020204030204" pitchFamily="34" charset="-122"/>
                <a:cs typeface="Calibri" panose="020F0502020204030204" pitchFamily="34" charset="-120"/>
              </a:rPr>
              <a:t>Google Generative AI (Gemini) — prescription verification</a:t>
            </a:r>
            <a:endParaRPr lang="en-US" sz="1200" dirty="0"/>
          </a:p>
          <a:p>
            <a:pPr marL="0" indent="0">
              <a:lnSpc>
                <a:spcPts val="1300"/>
              </a:lnSpc>
              <a:spcBef>
                <a:spcPts val="400"/>
              </a:spcBef>
              <a:buNone/>
            </a:pPr>
            <a:r>
              <a:rPr lang="en-US" sz="900" b="1" dirty="0">
                <a:solidFill>
                  <a:srgbClr val="028090"/>
                </a:solidFill>
                <a:latin typeface="Calibri" panose="020F0502020204030204" pitchFamily="34" charset="0"/>
                <a:ea typeface="Calibri" panose="020F0502020204030204" pitchFamily="34" charset="-122"/>
                <a:cs typeface="Calibri" panose="020F0502020204030204" pitchFamily="34" charset="-120"/>
              </a:rPr>
              <a:t>Used for: </a:t>
            </a:r>
            <a:r>
              <a:rPr lang="en-US" sz="900" dirty="0">
                <a:solidFill>
                  <a:srgbClr val="5C7078"/>
                </a:solidFill>
                <a:latin typeface="Calibri" panose="020F0502020204030204" pitchFamily="34" charset="0"/>
                <a:ea typeface="Calibri" panose="020F0502020204030204" pitchFamily="34" charset="-122"/>
                <a:cs typeface="Calibri" panose="020F0502020204030204" pitchFamily="34" charset="-120"/>
              </a:rPr>
              <a:t>Flagging dosage / interaction issues before dispensing</a:t>
            </a:r>
            <a:endParaRPr lang="en-US" sz="900" dirty="0"/>
          </a:p>
        </p:txBody>
      </p:sp>
      <p:sp>
        <p:nvSpPr>
          <p:cNvPr id="19" name="Shape 17"/>
          <p:cNvSpPr/>
          <p:nvPr/>
        </p:nvSpPr>
        <p:spPr>
          <a:xfrm>
            <a:off x="6195060" y="4709160"/>
            <a:ext cx="5417820" cy="1417320"/>
          </a:xfrm>
          <a:prstGeom prst="roundRect">
            <a:avLst>
              <a:gd name="adj" fmla="val 5185"/>
            </a:avLst>
          </a:prstGeom>
          <a:solidFill>
            <a:srgbClr val="F4F9F8"/>
          </a:solidFill>
        </p:spPr>
        <p:txBody>
          <a:bodyPr/>
          <a:p/>
        </p:txBody>
      </p:sp>
      <p:sp>
        <p:nvSpPr>
          <p:cNvPr id="20" name="Text 18"/>
          <p:cNvSpPr/>
          <p:nvPr/>
        </p:nvSpPr>
        <p:spPr>
          <a:xfrm>
            <a:off x="6469380" y="4846320"/>
            <a:ext cx="4869180" cy="365760"/>
          </a:xfrm>
          <a:prstGeom prst="rect">
            <a:avLst/>
          </a:prstGeom>
          <a:noFill/>
        </p:spPr>
        <p:txBody>
          <a:bodyPr wrap="square" rtlCol="0" anchor="ctr"/>
          <a:lstStyle/>
          <a:p>
            <a:pPr marL="0" indent="0">
              <a:buNone/>
            </a:pPr>
            <a:r>
              <a:rPr lang="en-US" sz="1400" b="1" dirty="0">
                <a:solidFill>
                  <a:srgbClr val="028090"/>
                </a:solidFill>
                <a:latin typeface="Cambria" panose="02040503050406030204" pitchFamily="34" charset="0"/>
                <a:ea typeface="Cambria" panose="02040503050406030204" pitchFamily="34" charset="-122"/>
                <a:cs typeface="Cambria" panose="02040503050406030204" pitchFamily="34" charset="-120"/>
              </a:rPr>
              <a:t>Tooling</a:t>
            </a:r>
            <a:endParaRPr lang="en-US" sz="1400" dirty="0"/>
          </a:p>
        </p:txBody>
      </p:sp>
      <p:sp>
        <p:nvSpPr>
          <p:cNvPr id="21" name="Text 19"/>
          <p:cNvSpPr/>
          <p:nvPr/>
        </p:nvSpPr>
        <p:spPr>
          <a:xfrm>
            <a:off x="6469380" y="5212080"/>
            <a:ext cx="4869180" cy="777240"/>
          </a:xfrm>
          <a:prstGeom prst="rect">
            <a:avLst/>
          </a:prstGeom>
          <a:noFill/>
        </p:spPr>
        <p:txBody>
          <a:bodyPr wrap="square" rtlCol="0" anchor="ctr"/>
          <a:lstStyle/>
          <a:p>
            <a:pPr marL="0" indent="0">
              <a:lnSpc>
                <a:spcPts val="1600"/>
              </a:lnSpc>
              <a:buNone/>
            </a:pPr>
            <a:r>
              <a:rPr lang="en-US" sz="1200" dirty="0">
                <a:solidFill>
                  <a:srgbClr val="1A2B32"/>
                </a:solidFill>
                <a:latin typeface="Calibri" panose="020F0502020204030204" pitchFamily="34" charset="0"/>
                <a:ea typeface="Calibri" panose="020F0502020204030204" pitchFamily="34" charset="-122"/>
                <a:cs typeface="Calibri" panose="020F0502020204030204" pitchFamily="34" charset="-120"/>
              </a:rPr>
              <a:t>VS Code, Git/GitHub, REST Client for API testing</a:t>
            </a:r>
            <a:endParaRPr lang="en-US" sz="1200" dirty="0"/>
          </a:p>
          <a:p>
            <a:pPr marL="0" indent="0">
              <a:lnSpc>
                <a:spcPts val="1300"/>
              </a:lnSpc>
              <a:spcBef>
                <a:spcPts val="400"/>
              </a:spcBef>
              <a:buNone/>
            </a:pPr>
            <a:r>
              <a:rPr lang="en-US" sz="900" b="1" dirty="0">
                <a:solidFill>
                  <a:srgbClr val="028090"/>
                </a:solidFill>
                <a:latin typeface="Calibri" panose="020F0502020204030204" pitchFamily="34" charset="0"/>
                <a:ea typeface="Calibri" panose="020F0502020204030204" pitchFamily="34" charset="-122"/>
                <a:cs typeface="Calibri" panose="020F0502020204030204" pitchFamily="34" charset="-120"/>
              </a:rPr>
              <a:t>Used for: </a:t>
            </a:r>
            <a:r>
              <a:rPr lang="en-US" sz="900" dirty="0">
                <a:solidFill>
                  <a:srgbClr val="5C7078"/>
                </a:solidFill>
                <a:latin typeface="Calibri" panose="020F0502020204030204" pitchFamily="34" charset="0"/>
                <a:ea typeface="Calibri" panose="020F0502020204030204" pitchFamily="34" charset="-122"/>
                <a:cs typeface="Calibri" panose="020F0502020204030204" pitchFamily="34" charset="-120"/>
              </a:rPr>
              <a:t>Development, version control &amp; API testing</a:t>
            </a:r>
            <a:endParaRPr lang="en-US" sz="900" dirty="0"/>
          </a:p>
        </p:txBody>
      </p:sp>
      <p:sp>
        <p:nvSpPr>
          <p:cNvPr id="22" name="Text 20"/>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5C7078"/>
                </a:solidFill>
                <a:latin typeface="Calibri" panose="020F0502020204030204" pitchFamily="34" charset="0"/>
                <a:ea typeface="Calibri" panose="020F0502020204030204" pitchFamily="34" charset="-122"/>
                <a:cs typeface="Calibri" panose="020F0502020204030204" pitchFamily="34" charset="-120"/>
              </a:rPr>
              <a:t>MEDINEX — Mini Project 2 — Review 1</a:t>
            </a:r>
            <a:endParaRPr lang="en-US" sz="900" dirty="0"/>
          </a:p>
        </p:txBody>
      </p:sp>
      <p:sp>
        <p:nvSpPr>
          <p:cNvPr id="23" name="Text 21"/>
          <p:cNvSpPr/>
          <p:nvPr/>
        </p:nvSpPr>
        <p:spPr>
          <a:xfrm>
            <a:off x="11521440" y="6537960"/>
            <a:ext cx="457200" cy="274320"/>
          </a:xfrm>
          <a:prstGeom prst="rect">
            <a:avLst/>
          </a:prstGeom>
          <a:noFill/>
        </p:spPr>
        <p:txBody>
          <a:bodyPr wrap="square" rtlCol="0" anchor="ctr"/>
          <a:lstStyle/>
          <a:p>
            <a:pPr marL="0" indent="0" algn="r">
              <a:buNone/>
            </a:pPr>
            <a:r>
              <a:rPr lang="en-US" sz="900" dirty="0">
                <a:solidFill>
                  <a:srgbClr val="5C7078"/>
                </a:solidFill>
                <a:latin typeface="Calibri" panose="020F0502020204030204" pitchFamily="34" charset="0"/>
                <a:ea typeface="Calibri" panose="020F0502020204030204" pitchFamily="34" charset="-122"/>
                <a:cs typeface="Calibri" panose="020F0502020204030204"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F2A"/>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p:spPr>
        <p:txBody>
          <a:bodyPr wrap="square" rtlCol="0" anchor="ctr"/>
          <a:lstStyle/>
          <a:p>
            <a:pPr marL="0" indent="0">
              <a:buNone/>
            </a:pPr>
            <a:r>
              <a:rPr lang="en-US" sz="1300" b="1" kern="0" spc="200" dirty="0">
                <a:solidFill>
                  <a:srgbClr val="02C39A"/>
                </a:solidFill>
                <a:latin typeface="Calibri" panose="020F0502020204030204" pitchFamily="34" charset="0"/>
                <a:ea typeface="Calibri" panose="020F0502020204030204" pitchFamily="34" charset="-122"/>
                <a:cs typeface="Calibri" panose="020F0502020204030204" pitchFamily="34" charset="-120"/>
              </a:rPr>
              <a:t>PROJECT STATUS</a:t>
            </a:r>
            <a:endParaRPr lang="en-US" sz="1300" dirty="0"/>
          </a:p>
        </p:txBody>
      </p:sp>
      <p:sp>
        <p:nvSpPr>
          <p:cNvPr id="3" name="Text 1"/>
          <p:cNvSpPr/>
          <p:nvPr/>
        </p:nvSpPr>
        <p:spPr>
          <a:xfrm>
            <a:off x="548640" y="777240"/>
            <a:ext cx="9144000" cy="640080"/>
          </a:xfrm>
          <a:prstGeom prst="rect">
            <a:avLst/>
          </a:prstGeom>
          <a:noFill/>
        </p:spPr>
        <p:txBody>
          <a:bodyPr wrap="square" rtlCol="0" anchor="ctr"/>
          <a:lstStyle/>
          <a:p>
            <a:pPr marL="0" indent="0">
              <a:buNone/>
            </a:pPr>
            <a:r>
              <a:rPr lang="en-US" sz="3000" b="1" dirty="0">
                <a:solidFill>
                  <a:srgbClr val="FFFFFF"/>
                </a:solidFill>
                <a:latin typeface="Cambria" panose="02040503050406030204" pitchFamily="34" charset="0"/>
                <a:ea typeface="Cambria" panose="02040503050406030204" pitchFamily="34" charset="-122"/>
                <a:cs typeface="Cambria" panose="02040503050406030204" pitchFamily="34" charset="-120"/>
              </a:rPr>
              <a:t>Completion Status</a:t>
            </a:r>
            <a:endParaRPr lang="en-US" sz="3000" dirty="0"/>
          </a:p>
        </p:txBody>
      </p:sp>
      <p:sp>
        <p:nvSpPr>
          <p:cNvPr id="4" name="Shape 2"/>
          <p:cNvSpPr/>
          <p:nvPr/>
        </p:nvSpPr>
        <p:spPr>
          <a:xfrm>
            <a:off x="548640" y="1828800"/>
            <a:ext cx="7315200" cy="457200"/>
          </a:xfrm>
          <a:prstGeom prst="rect">
            <a:avLst/>
          </a:prstGeom>
          <a:solidFill>
            <a:srgbClr val="1E3A42"/>
          </a:solidFill>
        </p:spPr>
        <p:txBody>
          <a:bodyPr/>
          <a:p/>
        </p:txBody>
      </p:sp>
      <p:sp>
        <p:nvSpPr>
          <p:cNvPr id="5" name="Shape 3"/>
          <p:cNvSpPr/>
          <p:nvPr/>
        </p:nvSpPr>
        <p:spPr>
          <a:xfrm>
            <a:off x="548640" y="1828800"/>
            <a:ext cx="2743200" cy="457200"/>
          </a:xfrm>
          <a:prstGeom prst="rect">
            <a:avLst/>
          </a:prstGeom>
          <a:solidFill>
            <a:srgbClr val="02C39A"/>
          </a:solidFill>
        </p:spPr>
        <p:txBody>
          <a:bodyPr/>
          <a:p/>
        </p:txBody>
      </p:sp>
      <p:sp>
        <p:nvSpPr>
          <p:cNvPr id="6" name="Text 4"/>
          <p:cNvSpPr/>
          <p:nvPr/>
        </p:nvSpPr>
        <p:spPr>
          <a:xfrm>
            <a:off x="8046720" y="1783080"/>
            <a:ext cx="3200400" cy="548640"/>
          </a:xfrm>
          <a:prstGeom prst="rect">
            <a:avLst/>
          </a:prstGeom>
          <a:noFill/>
        </p:spPr>
        <p:txBody>
          <a:bodyPr wrap="square" rtlCol="0" anchor="ctr"/>
          <a:lstStyle/>
          <a:p>
            <a:pPr marL="0" indent="0">
              <a:buNone/>
            </a:pPr>
            <a:r>
              <a:rPr lang="en-US" sz="1600" b="1" dirty="0">
                <a:solidFill>
                  <a:srgbClr val="02C39A"/>
                </a:solidFill>
                <a:latin typeface="Cambria" panose="02040503050406030204" pitchFamily="34" charset="0"/>
                <a:ea typeface="Cambria" panose="02040503050406030204" pitchFamily="34" charset="-122"/>
                <a:cs typeface="Cambria" panose="02040503050406030204" pitchFamily="34" charset="-120"/>
              </a:rPr>
              <a:t>~35–40% complete</a:t>
            </a:r>
            <a:endParaRPr lang="en-US" sz="1600" dirty="0"/>
          </a:p>
        </p:txBody>
      </p:sp>
      <p:sp>
        <p:nvSpPr>
          <p:cNvPr id="7" name="Shape 5"/>
          <p:cNvSpPr/>
          <p:nvPr/>
        </p:nvSpPr>
        <p:spPr>
          <a:xfrm>
            <a:off x="548640" y="2606040"/>
            <a:ext cx="6126480" cy="3749040"/>
          </a:xfrm>
          <a:prstGeom prst="roundRect">
            <a:avLst>
              <a:gd name="adj" fmla="val 1463"/>
            </a:avLst>
          </a:prstGeom>
          <a:solidFill>
            <a:srgbClr val="10262E"/>
          </a:solidFill>
        </p:spPr>
        <p:txBody>
          <a:bodyPr/>
          <a:p/>
        </p:txBody>
      </p:sp>
      <p:sp>
        <p:nvSpPr>
          <p:cNvPr id="8" name="Text 6"/>
          <p:cNvSpPr/>
          <p:nvPr/>
        </p:nvSpPr>
        <p:spPr>
          <a:xfrm>
            <a:off x="822960" y="2743200"/>
            <a:ext cx="5486400" cy="365760"/>
          </a:xfrm>
          <a:prstGeom prst="rect">
            <a:avLst/>
          </a:prstGeom>
          <a:noFill/>
        </p:spPr>
        <p:txBody>
          <a:bodyPr wrap="square" rtlCol="0" anchor="ctr"/>
          <a:lstStyle/>
          <a:p>
            <a:pPr marL="0" indent="0">
              <a:buNone/>
            </a:pPr>
            <a:r>
              <a:rPr lang="en-US" sz="1500" b="1" dirty="0">
                <a:solidFill>
                  <a:srgbClr val="02C39A"/>
                </a:solidFill>
                <a:latin typeface="Cambria" panose="02040503050406030204" pitchFamily="34" charset="0"/>
                <a:ea typeface="Cambria" panose="02040503050406030204" pitchFamily="34" charset="-122"/>
                <a:cs typeface="Cambria" panose="02040503050406030204" pitchFamily="34" charset="-120"/>
              </a:rPr>
              <a:t>Completed</a:t>
            </a:r>
            <a:endParaRPr lang="en-US" sz="1500" dirty="0"/>
          </a:p>
        </p:txBody>
      </p:sp>
      <p:sp>
        <p:nvSpPr>
          <p:cNvPr id="9" name="Text 7"/>
          <p:cNvSpPr/>
          <p:nvPr/>
        </p:nvSpPr>
        <p:spPr>
          <a:xfrm>
            <a:off x="868680" y="3200400"/>
            <a:ext cx="5577840" cy="3017520"/>
          </a:xfrm>
          <a:prstGeom prst="rect">
            <a:avLst/>
          </a:prstGeom>
          <a:noFill/>
        </p:spPr>
        <p:txBody>
          <a:bodyPr wrap="square" rtlCol="0" anchor="ctr"/>
          <a:lstStyle/>
          <a:p>
            <a:pPr marL="342900" indent="-342900">
              <a:lnSpc>
                <a:spcPts val="2000"/>
              </a:lnSpc>
              <a:spcAft>
                <a:spcPts val="800"/>
              </a:spcAft>
              <a:buSzPct val="100000"/>
              <a:buChar char="✓"/>
            </a:pPr>
            <a:r>
              <a:rPr lang="en-US" sz="1200" dirty="0">
                <a:solidFill>
                  <a:srgbClr val="E3F2F0"/>
                </a:solidFill>
                <a:latin typeface="Calibri" panose="020F0502020204030204" pitchFamily="34" charset="0"/>
                <a:ea typeface="Calibri" panose="020F0502020204030204" pitchFamily="34" charset="-122"/>
                <a:cs typeface="Calibri" panose="020F0502020204030204" pitchFamily="34" charset="-120"/>
              </a:rPr>
              <a:t>21-table schema designed &amp; implemented</a:t>
            </a:r>
            <a:endParaRPr lang="en-US" sz="1200" dirty="0"/>
          </a:p>
          <a:p>
            <a:pPr marL="342900" indent="-342900">
              <a:lnSpc>
                <a:spcPts val="2000"/>
              </a:lnSpc>
              <a:spcAft>
                <a:spcPts val="800"/>
              </a:spcAft>
              <a:buSzPct val="100000"/>
              <a:buChar char="✓"/>
            </a:pPr>
            <a:r>
              <a:rPr lang="en-US" sz="1200" dirty="0">
                <a:solidFill>
                  <a:srgbClr val="E3F2F0"/>
                </a:solidFill>
                <a:latin typeface="Calibri" panose="020F0502020204030204" pitchFamily="34" charset="0"/>
                <a:ea typeface="Calibri" panose="020F0502020204030204" pitchFamily="34" charset="-122"/>
                <a:cs typeface="Calibri" panose="020F0502020204030204" pitchFamily="34" charset="-120"/>
              </a:rPr>
              <a:t>Authentication: JWT, bcrypt, OTP reset</a:t>
            </a:r>
            <a:endParaRPr lang="en-US" sz="1200" dirty="0"/>
          </a:p>
          <a:p>
            <a:pPr marL="342900" indent="-342900">
              <a:lnSpc>
                <a:spcPts val="2000"/>
              </a:lnSpc>
              <a:spcAft>
                <a:spcPts val="800"/>
              </a:spcAft>
              <a:buSzPct val="100000"/>
              <a:buChar char="✓"/>
            </a:pPr>
            <a:r>
              <a:rPr lang="en-US" sz="1200" dirty="0">
                <a:solidFill>
                  <a:srgbClr val="E3F2F0"/>
                </a:solidFill>
                <a:latin typeface="Calibri" panose="020F0502020204030204" pitchFamily="34" charset="0"/>
                <a:ea typeface="Calibri" panose="020F0502020204030204" pitchFamily="34" charset="-122"/>
                <a:cs typeface="Calibri" panose="020F0502020204030204" pitchFamily="34" charset="-120"/>
              </a:rPr>
              <a:t>Admin, Hospital, Doctor, Patient, Pharmacist backend modules &amp; routes</a:t>
            </a:r>
            <a:endParaRPr lang="en-US" sz="1200" dirty="0"/>
          </a:p>
          <a:p>
            <a:pPr marL="342900" indent="-342900">
              <a:lnSpc>
                <a:spcPts val="2000"/>
              </a:lnSpc>
              <a:spcAft>
                <a:spcPts val="800"/>
              </a:spcAft>
              <a:buSzPct val="100000"/>
              <a:buChar char="✓"/>
            </a:pPr>
            <a:r>
              <a:rPr lang="en-US" sz="1200" dirty="0">
                <a:solidFill>
                  <a:srgbClr val="E3F2F0"/>
                </a:solidFill>
                <a:latin typeface="Calibri" panose="020F0502020204030204" pitchFamily="34" charset="0"/>
                <a:ea typeface="Calibri" panose="020F0502020204030204" pitchFamily="34" charset="-122"/>
                <a:cs typeface="Calibri" panose="020F0502020204030204" pitchFamily="34" charset="-120"/>
              </a:rPr>
              <a:t>Prescription create → dispense workflow</a:t>
            </a:r>
            <a:endParaRPr lang="en-US" sz="1200" dirty="0"/>
          </a:p>
          <a:p>
            <a:pPr marL="342900" indent="-342900">
              <a:lnSpc>
                <a:spcPts val="2000"/>
              </a:lnSpc>
              <a:spcAft>
                <a:spcPts val="800"/>
              </a:spcAft>
              <a:buSzPct val="100000"/>
              <a:buChar char="✓"/>
            </a:pPr>
            <a:r>
              <a:rPr lang="en-US" sz="1200" dirty="0">
                <a:solidFill>
                  <a:srgbClr val="E3F2F0"/>
                </a:solidFill>
                <a:latin typeface="Calibri" panose="020F0502020204030204" pitchFamily="34" charset="0"/>
                <a:ea typeface="Calibri" panose="020F0502020204030204" pitchFamily="34" charset="-122"/>
                <a:cs typeface="Calibri" panose="020F0502020204030204" pitchFamily="34" charset="-120"/>
              </a:rPr>
              <a:t>Complaint tracking, lab report upload</a:t>
            </a:r>
            <a:endParaRPr lang="en-US" sz="1200" dirty="0"/>
          </a:p>
          <a:p>
            <a:pPr marL="342900" indent="-342900">
              <a:lnSpc>
                <a:spcPts val="2000"/>
              </a:lnSpc>
              <a:spcAft>
                <a:spcPts val="800"/>
              </a:spcAft>
              <a:buSzPct val="100000"/>
              <a:buChar char="✓"/>
            </a:pPr>
            <a:r>
              <a:rPr lang="en-US" sz="1200" dirty="0">
                <a:solidFill>
                  <a:srgbClr val="E3F2F0"/>
                </a:solidFill>
                <a:latin typeface="Calibri" panose="020F0502020204030204" pitchFamily="34" charset="0"/>
                <a:ea typeface="Calibri" panose="020F0502020204030204" pitchFamily="34" charset="-122"/>
                <a:cs typeface="Calibri" panose="020F0502020204030204" pitchFamily="34" charset="-120"/>
              </a:rPr>
              <a:t>AI (Gemini) integration started for prescription verification</a:t>
            </a:r>
            <a:endParaRPr lang="en-US" sz="1200" dirty="0"/>
          </a:p>
        </p:txBody>
      </p:sp>
      <p:sp>
        <p:nvSpPr>
          <p:cNvPr id="10" name="Shape 8"/>
          <p:cNvSpPr/>
          <p:nvPr/>
        </p:nvSpPr>
        <p:spPr>
          <a:xfrm>
            <a:off x="6858000" y="2606040"/>
            <a:ext cx="4754880" cy="3749040"/>
          </a:xfrm>
          <a:prstGeom prst="roundRect">
            <a:avLst>
              <a:gd name="adj" fmla="val 1463"/>
            </a:avLst>
          </a:prstGeom>
          <a:solidFill>
            <a:srgbClr val="10262E"/>
          </a:solidFill>
        </p:spPr>
        <p:txBody>
          <a:bodyPr/>
          <a:p/>
        </p:txBody>
      </p:sp>
      <p:sp>
        <p:nvSpPr>
          <p:cNvPr id="11" name="Text 9"/>
          <p:cNvSpPr/>
          <p:nvPr/>
        </p:nvSpPr>
        <p:spPr>
          <a:xfrm>
            <a:off x="7132320" y="2743200"/>
            <a:ext cx="4206240" cy="365760"/>
          </a:xfrm>
          <a:prstGeom prst="rect">
            <a:avLst/>
          </a:prstGeom>
          <a:noFill/>
        </p:spPr>
        <p:txBody>
          <a:bodyPr wrap="square" rtlCol="0" anchor="ctr"/>
          <a:lstStyle/>
          <a:p>
            <a:pPr marL="0" indent="0">
              <a:buNone/>
            </a:pPr>
            <a:r>
              <a:rPr lang="en-US" sz="1500" b="1" dirty="0">
                <a:solidFill>
                  <a:srgbClr val="00A896"/>
                </a:solidFill>
                <a:latin typeface="Cambria" panose="02040503050406030204" pitchFamily="34" charset="0"/>
                <a:ea typeface="Cambria" panose="02040503050406030204" pitchFamily="34" charset="-122"/>
                <a:cs typeface="Cambria" panose="02040503050406030204" pitchFamily="34" charset="-120"/>
              </a:rPr>
              <a:t>Next Steps</a:t>
            </a:r>
            <a:endParaRPr lang="en-US" sz="1500" dirty="0"/>
          </a:p>
        </p:txBody>
      </p:sp>
      <p:sp>
        <p:nvSpPr>
          <p:cNvPr id="12" name="Text 10"/>
          <p:cNvSpPr/>
          <p:nvPr/>
        </p:nvSpPr>
        <p:spPr>
          <a:xfrm>
            <a:off x="7178040" y="3200400"/>
            <a:ext cx="4206240" cy="3017520"/>
          </a:xfrm>
          <a:prstGeom prst="rect">
            <a:avLst/>
          </a:prstGeom>
          <a:noFill/>
        </p:spPr>
        <p:txBody>
          <a:bodyPr wrap="square" rtlCol="0" anchor="ctr"/>
          <a:lstStyle/>
          <a:p>
            <a:pPr marL="342900" indent="-342900">
              <a:lnSpc>
                <a:spcPts val="2000"/>
              </a:lnSpc>
              <a:spcAft>
                <a:spcPts val="800"/>
              </a:spcAft>
              <a:buSzPct val="100000"/>
              <a:buChar char="→"/>
            </a:pPr>
            <a:r>
              <a:rPr lang="en-US" sz="1200" dirty="0">
                <a:solidFill>
                  <a:srgbClr val="E3F2F0"/>
                </a:solidFill>
                <a:latin typeface="Calibri" panose="020F0502020204030204" pitchFamily="34" charset="0"/>
                <a:ea typeface="Calibri" panose="020F0502020204030204" pitchFamily="34" charset="-122"/>
                <a:cs typeface="Calibri" panose="020F0502020204030204" pitchFamily="34" charset="-120"/>
              </a:rPr>
              <a:t>UI polish across all dashboards</a:t>
            </a:r>
            <a:endParaRPr lang="en-US" sz="1200" dirty="0"/>
          </a:p>
          <a:p>
            <a:pPr marL="342900" indent="-342900">
              <a:lnSpc>
                <a:spcPts val="2000"/>
              </a:lnSpc>
              <a:spcAft>
                <a:spcPts val="800"/>
              </a:spcAft>
              <a:buSzPct val="100000"/>
              <a:buChar char="→"/>
            </a:pPr>
            <a:r>
              <a:rPr lang="en-US" sz="1200" dirty="0">
                <a:solidFill>
                  <a:srgbClr val="E3F2F0"/>
                </a:solidFill>
                <a:latin typeface="Calibri" panose="020F0502020204030204" pitchFamily="34" charset="0"/>
                <a:ea typeface="Calibri" panose="020F0502020204030204" pitchFamily="34" charset="-122"/>
                <a:cs typeface="Calibri" panose="020F0502020204030204" pitchFamily="34" charset="-120"/>
              </a:rPr>
              <a:t>Complete AI verification logic &amp; testing</a:t>
            </a:r>
            <a:endParaRPr lang="en-US" sz="1200" dirty="0"/>
          </a:p>
          <a:p>
            <a:pPr marL="342900" indent="-342900">
              <a:lnSpc>
                <a:spcPts val="2000"/>
              </a:lnSpc>
              <a:spcAft>
                <a:spcPts val="800"/>
              </a:spcAft>
              <a:buSzPct val="100000"/>
              <a:buChar char="→"/>
            </a:pPr>
            <a:r>
              <a:rPr lang="en-US" sz="1200" dirty="0">
                <a:solidFill>
                  <a:srgbClr val="E3F2F0"/>
                </a:solidFill>
                <a:latin typeface="Calibri" panose="020F0502020204030204" pitchFamily="34" charset="0"/>
                <a:ea typeface="Calibri" panose="020F0502020204030204" pitchFamily="34" charset="-122"/>
                <a:cs typeface="Calibri" panose="020F0502020204030204" pitchFamily="34" charset="-120"/>
              </a:rPr>
              <a:t>Selenium test cases</a:t>
            </a:r>
            <a:endParaRPr lang="en-US" sz="1200" dirty="0"/>
          </a:p>
          <a:p>
            <a:pPr marL="342900" indent="-342900">
              <a:lnSpc>
                <a:spcPts val="2000"/>
              </a:lnSpc>
              <a:spcAft>
                <a:spcPts val="800"/>
              </a:spcAft>
              <a:buSzPct val="100000"/>
              <a:buChar char="→"/>
            </a:pPr>
            <a:r>
              <a:rPr lang="en-US" sz="1200" dirty="0">
                <a:solidFill>
                  <a:srgbClr val="E3F2F0"/>
                </a:solidFill>
                <a:latin typeface="Calibri" panose="020F0502020204030204" pitchFamily="34" charset="0"/>
                <a:ea typeface="Calibri" panose="020F0502020204030204" pitchFamily="34" charset="-122"/>
                <a:cs typeface="Calibri" panose="020F0502020204030204" pitchFamily="34" charset="-120"/>
              </a:rPr>
              <a:t>Deployment / hosting</a:t>
            </a:r>
            <a:endParaRPr lang="en-US" sz="1200" dirty="0"/>
          </a:p>
          <a:p>
            <a:pPr marL="342900" indent="-342900">
              <a:lnSpc>
                <a:spcPts val="2000"/>
              </a:lnSpc>
              <a:spcAft>
                <a:spcPts val="800"/>
              </a:spcAft>
              <a:buSzPct val="100000"/>
              <a:buChar char="→"/>
            </a:pPr>
            <a:r>
              <a:rPr lang="en-US" sz="1200" dirty="0">
                <a:solidFill>
                  <a:srgbClr val="E3F2F0"/>
                </a:solidFill>
                <a:latin typeface="Calibri" panose="020F0502020204030204" pitchFamily="34" charset="0"/>
                <a:ea typeface="Calibri" panose="020F0502020204030204" pitchFamily="34" charset="-122"/>
                <a:cs typeface="Calibri" panose="020F0502020204030204" pitchFamily="34" charset="-120"/>
              </a:rPr>
              <a:t>Automate the AI prescription interaction check (currently manual step)</a:t>
            </a:r>
            <a:endParaRPr lang="en-US" sz="1200" dirty="0"/>
          </a:p>
          <a:p>
            <a:pPr marL="342900" indent="-342900">
              <a:lnSpc>
                <a:spcPts val="2000"/>
              </a:lnSpc>
              <a:spcAft>
                <a:spcPts val="800"/>
              </a:spcAft>
              <a:buSzPct val="100000"/>
              <a:buChar char="→"/>
            </a:pPr>
            <a:r>
              <a:rPr lang="en-US" sz="1200" dirty="0">
                <a:solidFill>
                  <a:srgbClr val="E3F2F0"/>
                </a:solidFill>
                <a:latin typeface="Calibri" panose="020F0502020204030204" pitchFamily="34" charset="0"/>
                <a:ea typeface="Calibri" panose="020F0502020204030204" pitchFamily="34" charset="-122"/>
                <a:cs typeface="Calibri" panose="020F0502020204030204" pitchFamily="34" charset="-120"/>
              </a:rPr>
              <a:t>Streamline lab report upload flow</a:t>
            </a:r>
            <a:endParaRPr lang="en-US" sz="1200" dirty="0"/>
          </a:p>
          <a:p>
            <a:pPr marL="342900" indent="-342900">
              <a:lnSpc>
                <a:spcPts val="2000"/>
              </a:lnSpc>
              <a:spcAft>
                <a:spcPts val="800"/>
              </a:spcAft>
              <a:buSzPct val="100000"/>
              <a:buChar char="→"/>
            </a:pPr>
            <a:r>
              <a:rPr lang="en-US" sz="1200" dirty="0">
                <a:solidFill>
                  <a:srgbClr val="E3F2F0"/>
                </a:solidFill>
                <a:latin typeface="Calibri" panose="020F0502020204030204" pitchFamily="34" charset="0"/>
                <a:ea typeface="Calibri" panose="020F0502020204030204" pitchFamily="34" charset="-122"/>
                <a:cs typeface="Calibri" panose="020F0502020204030204" pitchFamily="34" charset="-120"/>
              </a:rPr>
              <a:t>Build a public landing page for MEDINEX</a:t>
            </a:r>
            <a:endParaRPr lang="en-US" sz="1200" dirty="0"/>
          </a:p>
        </p:txBody>
      </p:sp>
      <p:sp>
        <p:nvSpPr>
          <p:cNvPr id="13" name="Text 11"/>
          <p:cNvSpPr/>
          <p:nvPr/>
        </p:nvSpPr>
        <p:spPr>
          <a:xfrm>
            <a:off x="548640" y="6537960"/>
            <a:ext cx="7315200" cy="274320"/>
          </a:xfrm>
          <a:prstGeom prst="rect">
            <a:avLst/>
          </a:prstGeom>
          <a:noFill/>
        </p:spPr>
        <p:txBody>
          <a:bodyPr wrap="square" rtlCol="0" anchor="ctr"/>
          <a:lstStyle/>
          <a:p>
            <a:pPr marL="0" indent="0">
              <a:buNone/>
            </a:pPr>
            <a:r>
              <a:rPr lang="en-US" sz="900" dirty="0">
                <a:solidFill>
                  <a:srgbClr val="6E8A92"/>
                </a:solidFill>
                <a:latin typeface="Calibri" panose="020F0502020204030204" pitchFamily="34" charset="0"/>
                <a:ea typeface="Calibri" panose="020F0502020204030204" pitchFamily="34" charset="-122"/>
                <a:cs typeface="Calibri" panose="020F0502020204030204" pitchFamily="34" charset="-120"/>
              </a:rPr>
              <a:t>MEDINEX — Mini Project 2 — Review 1</a:t>
            </a:r>
            <a:endParaRPr lang="en-US" sz="900" dirty="0"/>
          </a:p>
        </p:txBody>
      </p:sp>
      <p:sp>
        <p:nvSpPr>
          <p:cNvPr id="14" name="Text 12"/>
          <p:cNvSpPr/>
          <p:nvPr/>
        </p:nvSpPr>
        <p:spPr>
          <a:xfrm>
            <a:off x="11521440" y="6537960"/>
            <a:ext cx="457200" cy="274320"/>
          </a:xfrm>
          <a:prstGeom prst="rect">
            <a:avLst/>
          </a:prstGeom>
          <a:noFill/>
        </p:spPr>
        <p:txBody>
          <a:bodyPr wrap="square" rtlCol="0" anchor="ctr"/>
          <a:lstStyle/>
          <a:p>
            <a:pPr marL="0" indent="0" algn="r">
              <a:buNone/>
            </a:pPr>
            <a:r>
              <a:rPr lang="en-US" sz="900" dirty="0">
                <a:solidFill>
                  <a:srgbClr val="6E8A92"/>
                </a:solidFill>
                <a:latin typeface="Calibri" panose="020F0502020204030204" pitchFamily="34" charset="0"/>
                <a:ea typeface="Calibri" panose="020F0502020204030204" pitchFamily="34" charset="-122"/>
                <a:cs typeface="Calibri" panose="020F0502020204030204"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5866</Words>
  <Application>WPS Presentation</Application>
  <PresentationFormat>On-screen Show (16:9)</PresentationFormat>
  <Paragraphs>343</Paragraphs>
  <Slides>12</Slides>
  <Notes>10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12</vt:i4>
      </vt:variant>
    </vt:vector>
  </HeadingPairs>
  <TitlesOfParts>
    <vt:vector size="26" baseType="lpstr">
      <vt:lpstr>Arial</vt:lpstr>
      <vt:lpstr>SimSun</vt:lpstr>
      <vt:lpstr>Wingdings</vt:lpstr>
      <vt:lpstr>Calibri</vt:lpstr>
      <vt:lpstr>Calibri</vt:lpstr>
      <vt:lpstr>Calibri</vt:lpstr>
      <vt:lpstr>Cambria</vt:lpstr>
      <vt:lpstr>Cambria</vt:lpstr>
      <vt:lpstr>Cambria</vt:lpstr>
      <vt:lpstr>Calibri</vt:lpstr>
      <vt:lpstr>Cambria</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Merin Geo</cp:lastModifiedBy>
  <cp:revision>3</cp:revision>
  <dcterms:created xsi:type="dcterms:W3CDTF">2026-07-25T09:04:00Z</dcterms:created>
  <dcterms:modified xsi:type="dcterms:W3CDTF">2026-07-25T13:30:30Z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4AF300FDDB8845C2B7E84BDF19696B0E_12</vt:lpwstr>
  </property>
</Properties>
</file>